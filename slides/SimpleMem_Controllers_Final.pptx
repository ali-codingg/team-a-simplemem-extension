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6" r:id="rId2"/>
    <p:sldId id="257" r:id="rId3"/>
  </p:sldIdLst>
  <p:notesMasterIdLst>
    <p:notesMasterId r:id="rId4"/>
  </p:notesMasterIdLst>
  <p:sldSz cx="12191695" cy="8330992"/>
  <p:notesSz cx="8330992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seline" id="{a651bddd-e9a4-fafa-ac96-82fd83319fa4}">
          <p14:sldIdLst>
            <p14:sldId id="256"/>
          </p14:sldIdLst>
        </p14:section>
        <p14:section name="Extension" id="{6625de76-0c95-acc6-1aa9-fddd0a9bb925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 per question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Planning (2 calls)</c:v>
                  </c:pt>
                  <c:pt idx="1">
                    <c:v>Query analysis (1 call)</c:v>
                  </c:pt>
                  <c:pt idx="2">
                    <c:v>Reflection (1.4 calls)</c:v>
                  </c:pt>
                  <c:pt idx="3">
                    <c:v>Answer (1 call)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791</c:v>
                </c:pt>
                <c:pt idx="1">
                  <c:v>233</c:v>
                </c:pt>
                <c:pt idx="2">
                  <c:v>3982</c:v>
                </c:pt>
                <c:pt idx="3">
                  <c:v>3439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75"/>
          <c:y val="0.08"/>
          <c:w val="0.88"/>
          <c:h val="0.8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LAYA</c:v>
                </c:pt>
              </c:strCache>
            </c:strRef>
          </c:tx>
          <c:spPr>
            <a:ln w="22225">
              <a:solidFill>
                <a:srgbClr val="3B6EA8"/>
              </a:solidFill>
            </a:ln>
          </c:spPr>
          <c:marker>
            <c:symbol val="circle"/>
            <c:size val="9"/>
            <c:spPr>
              <a:solidFill>
                <a:srgbClr val="3B6EA8"/>
              </a:solidFill>
              <a:ln w="9525">
                <a:solidFill>
                  <a:srgbClr val="FFFFFF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1215.7</c:v>
                </c:pt>
                <c:pt idx="1">
                  <c:v>1215.7</c:v>
                </c:pt>
                <c:pt idx="2">
                  <c:v>1215.7</c:v>
                </c:pt>
                <c:pt idx="3">
                  <c:v>1215.7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37.3</c:v>
                </c:pt>
                <c:pt idx="1">
                  <c:v>37.3</c:v>
                </c:pt>
                <c:pt idx="2">
                  <c:v>37.3</c:v>
                </c:pt>
                <c:pt idx="3">
                  <c:v>37.3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LAYA retrieval</c:v>
                </c:pt>
              </c:strCache>
            </c:strRef>
          </c:tx>
          <c:spPr>
            <a:ln w="22225">
              <a:solidFill>
                <a:srgbClr val="3B6EA8"/>
              </a:solidFill>
            </a:ln>
          </c:spPr>
          <c:marker>
            <c:symbol val="circle"/>
            <c:size val="9"/>
            <c:spPr>
              <a:solidFill>
                <a:srgbClr val="3B6EA8"/>
              </a:solidFill>
              <a:ln w="9525">
                <a:solidFill>
                  <a:srgbClr val="FFFFFF"/>
                </a:solidFill>
              </a:ln>
            </c:spPr>
          </c:marker>
          <c:xVal>
            <c:numRef>
              <c:f>Sheet1!$A$8:$A$11</c:f>
              <c:numCache>
                <c:formatCode>General</c:formatCode>
                <c:ptCount val="4"/>
                <c:pt idx="0">
                  <c:v>1215.8</c:v>
                </c:pt>
                <c:pt idx="1">
                  <c:v>1215.8</c:v>
                </c:pt>
                <c:pt idx="2">
                  <c:v>1215.8</c:v>
                </c:pt>
                <c:pt idx="3">
                  <c:v>1215.8</c:v>
                </c:pt>
              </c:numCache>
            </c:numRef>
          </c:xVal>
          <c:yVal>
            <c:numRef>
              <c:f>Sheet1!$B$8:$B$11</c:f>
              <c:numCache>
                <c:formatCode>General</c:formatCode>
                <c:ptCount val="4"/>
                <c:pt idx="0">
                  <c:v>35.7</c:v>
                </c:pt>
                <c:pt idx="1">
                  <c:v>35.7</c:v>
                </c:pt>
                <c:pt idx="2">
                  <c:v>35.7</c:v>
                </c:pt>
                <c:pt idx="3">
                  <c:v>35.7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Sheet1!$B$13</c:f>
              <c:strCache>
                <c:ptCount val="1"/>
                <c:pt idx="0">
                  <c:v>LAYA combined</c:v>
                </c:pt>
              </c:strCache>
            </c:strRef>
          </c:tx>
          <c:spPr>
            <a:ln w="22225">
              <a:solidFill>
                <a:srgbClr val="3B6EA8"/>
              </a:solidFill>
            </a:ln>
          </c:spPr>
          <c:marker>
            <c:symbol val="circle"/>
            <c:size val="9"/>
            <c:spPr>
              <a:solidFill>
                <a:srgbClr val="3B6EA8"/>
              </a:solidFill>
              <a:ln w="9525">
                <a:solidFill>
                  <a:srgbClr val="FFFFFF"/>
                </a:solidFill>
              </a:ln>
            </c:spPr>
          </c:marker>
          <c:xVal>
            <c:numRef>
              <c:f>Sheet1!$A$14:$A$17</c:f>
              <c:numCache>
                <c:formatCode>General</c:formatCode>
                <c:ptCount val="4"/>
                <c:pt idx="0">
                  <c:v>1215.9</c:v>
                </c:pt>
                <c:pt idx="1">
                  <c:v>1215.9</c:v>
                </c:pt>
                <c:pt idx="2">
                  <c:v>1215.9</c:v>
                </c:pt>
                <c:pt idx="3">
                  <c:v>1215.9</c:v>
                </c:pt>
              </c:numCache>
            </c:numRef>
          </c:xVal>
          <c:yVal>
            <c:numRef>
              <c:f>Sheet1!$B$14:$B$17</c:f>
              <c:numCache>
                <c:formatCode>General</c:formatCode>
                <c:ptCount val="4"/>
                <c:pt idx="0">
                  <c:v>37.0</c:v>
                </c:pt>
                <c:pt idx="1">
                  <c:v>37.0</c:v>
                </c:pt>
                <c:pt idx="2">
                  <c:v>37.0</c:v>
                </c:pt>
                <c:pt idx="3">
                  <c:v>37.0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Sheet1!$B$19</c:f>
              <c:strCache>
                <c:ptCount val="1"/>
                <c:pt idx="0">
                  <c:v>Jev</c:v>
                </c:pt>
              </c:strCache>
            </c:strRef>
          </c:tx>
          <c:spPr>
            <a:ln w="22225">
              <a:solidFill>
                <a:srgbClr val="D9822B"/>
              </a:solidFill>
            </a:ln>
          </c:spPr>
          <c:marker>
            <c:symbol val="circle"/>
            <c:size val="9"/>
            <c:spPr>
              <a:solidFill>
                <a:srgbClr val="D9822B"/>
              </a:solidFill>
              <a:ln w="9525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 wrap="none"/>
                  <a:lstStyle/>
                  <a:p>
                    <a:r>
                      <a:rPr sz="750">
                        <a:solidFill>
                          <a:srgbClr val="B35F10"/>
                        </a:solidFill>
                      </a:rPr>
                      <a:t>Jev complexity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Sheet1!$A$20:$A$23</c:f>
              <c:numCache>
                <c:formatCode>General</c:formatCode>
                <c:ptCount val="4"/>
                <c:pt idx="0">
                  <c:v>1934.1</c:v>
                </c:pt>
                <c:pt idx="1">
                  <c:v>1934.1</c:v>
                </c:pt>
                <c:pt idx="2">
                  <c:v>1934.1</c:v>
                </c:pt>
                <c:pt idx="3">
                  <c:v>1934.1</c:v>
                </c:pt>
              </c:numCache>
            </c:numRef>
          </c:xVal>
          <c:yVal>
            <c:numRef>
              <c:f>Sheet1!$B$20:$B$23</c:f>
              <c:numCache>
                <c:formatCode>General</c:formatCode>
                <c:ptCount val="4"/>
                <c:pt idx="0">
                  <c:v>39.2</c:v>
                </c:pt>
                <c:pt idx="1">
                  <c:v>39.2</c:v>
                </c:pt>
                <c:pt idx="2">
                  <c:v>39.2</c:v>
                </c:pt>
                <c:pt idx="3">
                  <c:v>39.2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Sheet1!$B$25</c:f>
              <c:strCache>
                <c:ptCount val="1"/>
                <c:pt idx="0">
                  <c:v>Jev retrieval</c:v>
                </c:pt>
              </c:strCache>
            </c:strRef>
          </c:tx>
          <c:spPr>
            <a:ln w="22225">
              <a:solidFill>
                <a:srgbClr val="D9822B"/>
              </a:solidFill>
            </a:ln>
          </c:spPr>
          <c:marker>
            <c:symbol val="circle"/>
            <c:size val="9"/>
            <c:spPr>
              <a:solidFill>
                <a:srgbClr val="D9822B"/>
              </a:solidFill>
              <a:ln w="9525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 wrap="none"/>
                  <a:lstStyle/>
                  <a:p>
                    <a:r>
                      <a:rPr sz="750">
                        <a:solidFill>
                          <a:srgbClr val="B35F10"/>
                        </a:solidFill>
                      </a:rPr>
                      <a:t>Jev retrieval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Sheet1!$A$26:$A$29</c:f>
              <c:numCache>
                <c:formatCode>General</c:formatCode>
                <c:ptCount val="4"/>
                <c:pt idx="0">
                  <c:v>1957.6</c:v>
                </c:pt>
                <c:pt idx="1">
                  <c:v>1957.6</c:v>
                </c:pt>
                <c:pt idx="2">
                  <c:v>1957.6</c:v>
                </c:pt>
                <c:pt idx="3">
                  <c:v>1957.6</c:v>
                </c:pt>
              </c:numCache>
            </c:numRef>
          </c:xVal>
          <c:yVal>
            <c:numRef>
              <c:f>Sheet1!$B$26:$B$29</c:f>
              <c:numCache>
                <c:formatCode>General</c:formatCode>
                <c:ptCount val="4"/>
                <c:pt idx="0">
                  <c:v>39.0</c:v>
                </c:pt>
                <c:pt idx="1">
                  <c:v>39.0</c:v>
                </c:pt>
                <c:pt idx="2">
                  <c:v>39.0</c:v>
                </c:pt>
                <c:pt idx="3">
                  <c:v>39.0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Sheet1!$B$31</c:f>
              <c:strCache>
                <c:ptCount val="1"/>
                <c:pt idx="0">
                  <c:v>Jev combined</c:v>
                </c:pt>
              </c:strCache>
            </c:strRef>
          </c:tx>
          <c:spPr>
            <a:ln w="22225">
              <a:solidFill>
                <a:srgbClr val="D9822B"/>
              </a:solidFill>
            </a:ln>
          </c:spPr>
          <c:marker>
            <c:symbol val="circle"/>
            <c:size val="9"/>
            <c:spPr>
              <a:solidFill>
                <a:srgbClr val="D9822B"/>
              </a:solidFill>
              <a:ln w="9525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 wrap="none"/>
                  <a:lstStyle/>
                  <a:p>
                    <a:r>
                      <a:rPr sz="750">
                        <a:solidFill>
                          <a:srgbClr val="B35F10"/>
                        </a:solidFill>
                      </a:rPr>
                      <a:t>Jev combined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Sheet1!$A$32:$A$35</c:f>
              <c:numCache>
                <c:formatCode>General</c:formatCode>
                <c:ptCount val="4"/>
                <c:pt idx="0">
                  <c:v>1158.7</c:v>
                </c:pt>
                <c:pt idx="1">
                  <c:v>1158.7</c:v>
                </c:pt>
                <c:pt idx="2">
                  <c:v>1158.7</c:v>
                </c:pt>
                <c:pt idx="3">
                  <c:v>1158.7</c:v>
                </c:pt>
              </c:numCache>
            </c:numRef>
          </c:xVal>
          <c:yVal>
            <c:numRef>
              <c:f>Sheet1!$B$32:$B$35</c:f>
              <c:numCache>
                <c:formatCode>General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37.5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Sheet1!$B$37</c:f>
              <c:strCache>
                <c:ptCount val="1"/>
                <c:pt idx="0">
                  <c:v>Fixed-k</c:v>
                </c:pt>
              </c:strCache>
            </c:strRef>
          </c:tx>
          <c:spPr>
            <a:ln w="22225">
              <a:solidFill>
                <a:srgbClr val="5A9E6F"/>
              </a:solidFill>
              <a:prstDash val="sysDash"/>
            </a:ln>
          </c:spPr>
          <c:marker>
            <c:symbol val="circle"/>
            <c:size val="9"/>
            <c:spPr>
              <a:solidFill>
                <a:srgbClr val="5A9E6F"/>
              </a:solidFill>
              <a:ln w="9525"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 wrap="none"/>
                  <a:lstStyle/>
                  <a:p>
                    <a:r>
                      <a:rPr sz="750">
                        <a:solidFill>
                          <a:srgbClr val="111827"/>
                        </a:solidFill>
                      </a:rPr>
                      <a:t>Fixed k=3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wrap="none"/>
                  <a:lstStyle/>
                  <a:p>
                    <a:r>
                      <a:rPr sz="750">
                        <a:solidFill>
                          <a:srgbClr val="111827"/>
                        </a:solidFill>
                      </a:rPr>
                      <a:t>Fixed k=7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wrap="none"/>
                  <a:lstStyle/>
                  <a:p>
                    <a:r>
                      <a:rPr sz="750">
                        <a:solidFill>
                          <a:srgbClr val="111827"/>
                        </a:solidFill>
                      </a:rPr>
                      <a:t>Fixed k=11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wrap="none"/>
                  <a:lstStyle/>
                  <a:p>
                    <a:r>
                      <a:rPr sz="750">
                        <a:solidFill>
                          <a:srgbClr val="111827"/>
                        </a:solidFill>
                      </a:rPr>
                      <a:t>Fixed k=15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Sheet1!$A$38:$A$41</c:f>
              <c:numCache>
                <c:formatCode>General</c:formatCode>
                <c:ptCount val="4"/>
                <c:pt idx="0">
                  <c:v>938.4</c:v>
                </c:pt>
                <c:pt idx="1">
                  <c:v>1736.1</c:v>
                </c:pt>
                <c:pt idx="2">
                  <c:v>1931.5</c:v>
                </c:pt>
                <c:pt idx="3">
                  <c:v>1956.7</c:v>
                </c:pt>
              </c:numCache>
            </c:numRef>
          </c:xVal>
          <c:yVal>
            <c:numRef>
              <c:f>Sheet1!$B$38:$B$41</c:f>
              <c:numCache>
                <c:formatCode>General</c:formatCode>
                <c:ptCount val="4"/>
                <c:pt idx="0">
                  <c:v>36.3</c:v>
                </c:pt>
                <c:pt idx="1">
                  <c:v>37.7</c:v>
                </c:pt>
                <c:pt idx="2">
                  <c:v>39.8</c:v>
                </c:pt>
                <c:pt idx="3">
                  <c:v>38.3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Sheet1!$B$43</c:f>
              <c:strCache>
                <c:ptCount val="1"/>
                <c:pt idx="0">
                  <c:v>Baseline</c:v>
                </c:pt>
              </c:strCache>
            </c:strRef>
          </c:tx>
          <c:spPr>
            <a:ln w="15875">
              <a:solidFill>
                <a:srgbClr val="9CA3AF"/>
              </a:solidFill>
              <a:prstDash val="dash"/>
            </a:ln>
          </c:spPr>
          <c:marker>
            <c:symbol val="none"/>
          </c:marker>
          <c:xVal>
            <c:numRef>
              <c:f>Sheet1!$A$44:$A$47</c:f>
              <c:numCache>
                <c:formatCode>General</c:formatCode>
                <c:ptCount val="4"/>
                <c:pt idx="0">
                  <c:v>800</c:v>
                </c:pt>
                <c:pt idx="1">
                  <c:v>2200</c:v>
                </c:pt>
                <c:pt idx="2">
                  <c:v>2200</c:v>
                </c:pt>
                <c:pt idx="3">
                  <c:v>2200</c:v>
                </c:pt>
              </c:numCache>
            </c:numRef>
          </c:xVal>
          <c:yVal>
            <c:numRef>
              <c:f>Sheet1!$B$44:$B$47</c:f>
              <c:numCache>
                <c:formatCode>General</c:formatCode>
                <c:ptCount val="4"/>
                <c:pt idx="0">
                  <c:v>41.25</c:v>
                </c:pt>
                <c:pt idx="1">
                  <c:v>41.25</c:v>
                </c:pt>
                <c:pt idx="2">
                  <c:v>41.25</c:v>
                </c:pt>
                <c:pt idx="3">
                  <c:v>41.25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100"/>
          <c:min val="800.0"/>
        </c:scaling>
        <c:delete val="0"/>
        <c:axPos val="b"/>
        <c:title>
          <c:tx>
            <c:rich>
              <a:bodyPr/>
              <a:lstStyle/>
              <a:p>
                <a:r>
                  <a:rPr sz="750" b="0"/>
                  <a:t>tokens per query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>
            <a:solidFill>
              <a:srgbClr val="111827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29643912"/>
        <c:crosses val="autoZero"/>
        <c:crossBetween val="midCat"/>
        <c:majorUnit val="400.0"/>
      </c:valAx>
      <c:valAx>
        <c:axId val="-2129643912"/>
        <c:scaling>
          <c:orientation val="minMax"/>
          <c:max val="42.0"/>
          <c:min val="35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50" b="0"/>
                  <a:t>macro-F1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>
            <a:solidFill>
              <a:srgbClr val="111827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28940872"/>
        <c:crosses val="autoZero"/>
        <c:crossBetween val="midCat"/>
        <c:majorUnit val="2.0"/>
      </c:valAx>
    </c:plotArea>
    <c:plotVisOnly val="1"/>
    <c:dispBlanksAs val="gap"/>
    <c:showDLblsOverMax val="0"/>
  </c:chart>
  <c:txPr>
    <a:bodyPr/>
    <a:lstStyle/>
    <a:p>
      <a:pPr>
        <a:defRPr sz="700">
          <a:solidFill>
            <a:srgbClr val="4B5563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PROBLEM: long conversations are mostly small talk, so low-information turns fill the context; the one useful fact (here: Oliver hid his bone in a slipper) is buried among many similar entries; and reading memory costs LLM calls on every question - 8,445 tokens and 5.4 LLM calls for ONE answer in our run. Baseline = SimpleMem (Liu et al., ICML 2026). WRITE PATH, once per conversation: (1) semantic structured compression - an LLM extracts atomic facts from windows of dialogue and resolves pronouns and relative dates; (2) online semantic synthesis - related facts are merged and indexed semantically, lexically and symbolically in LanceDB (336 memories for conv-26). READ PATH, every question: (3) intent-aware retrieval planning - a planner LLM writes a query for each index plus a retrieval depth; the three searches run, results are merged and deduplicated, a reflection step can search again (up to 2 rounds), and GPT-4.1-mini answers. Published: 43.24% average F1 vs 34.20% for Mem0, 531 tokens/query vs about 973 (Mem0) and 16,910 (full context). Our reproduction: 41.25 macro-F1 over categories 1-4 and 8,444 tokens per query, split roughly as planning 791, query analysis 233, reflection 3,982, answer 3,439 (stage figures rounded). The red stages, about 59% of tokens, are what our extension replaces or removes.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the question goes unchanged to a controller (LAYA or Jev), which outputs four signals (semantic, lexical, symbolic usefulness and multi-hop need). A budget policy (complexity, retrieval or combined) turns them into top-k per channel; retrieval and the GPT-4.1-mini answer generator are unchanged. Fixed-k (3, 7, 11, 15) is the control. Results are relative to our reproduced baseline (41.25 macro-F1, 8,444 tokens/query), not the paper's 531 tokens/query. Controllers cut tokens by 76.8-86.3% and lose 2.05-5.55 macro-F1 points. Jev + complexity is the best compromise (39.2 F1, 77.1% fewer tokens). Static k=11 reaches 39.8 at the same cost, so there is no evidence adaptive depth beats a well-chosen constant overall; the clear gain is on multi-hop (Jev retrieval/complexity 36.9/36.1 vs best fixed-k 33.0). One conversation, one run per configuration: differences of 1-2 points are not established.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Extending SimpleMem with Laya/Jev-Based Adaptive Retrieval - Data Science for Conversational AI, Lebanese University. Team A: Ali Al Mokdad, Joelle Barhoun, Ali Kheireddine. Presented for Dr. Ahmad Abboud. Original paper: SimpleMem: Efficient Lifelong Memory for LLM Agents (Liu et al., ICML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Relationship Id="rId5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 Lebanese University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365760"/>
            <a:ext cx="803119" cy="868680"/>
          </a:xfrm>
          <a:prstGeom prst="rect">
            <a:avLst/>
          </a:prstGeom>
        </p:spPr>
      </p:pic>
      <p:sp>
        <p:nvSpPr>
          <p:cNvPr id="3" name="University"/>
          <p:cNvSpPr txBox="1"/>
          <p:nvPr/>
        </p:nvSpPr>
        <p:spPr>
          <a:xfrm>
            <a:off x="1397479" y="5029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F2A44"/>
                </a:solidFill>
              </a:rPr>
              <a:t>Lebanese University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25B68"/>
                </a:solidFill>
              </a:rPr>
              <a:t>Data Science for Conversational AI</a:t>
            </a:r>
          </a:p>
        </p:txBody>
      </p:sp>
      <p:sp>
        <p:nvSpPr>
          <p:cNvPr id="4" name="Tag"/>
          <p:cNvSpPr txBox="1"/>
          <p:nvPr/>
        </p:nvSpPr>
        <p:spPr>
          <a:xfrm>
            <a:off x="7680960" y="640080"/>
            <a:ext cx="4096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0392B"/>
                </a:solidFill>
              </a:rPr>
              <a:t>TEAM PROJECT · PRESENTATION</a:t>
            </a:r>
          </a:p>
        </p:txBody>
      </p:sp>
      <p:cxnSp>
        <p:nvCxnSpPr>
          <p:cNvPr id="5" name="Top rule"/>
          <p:cNvCxnSpPr/>
          <p:nvPr/>
        </p:nvCxnSpPr>
        <p:spPr>
          <a:xfrm>
            <a:off x="411480" y="1463040"/>
            <a:ext cx="11365992" cy="0"/>
          </a:xfrm>
          <a:prstGeom prst="line">
            <a:avLst/>
          </a:prstGeom>
          <a:ln w="1587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"/>
          <p:cNvSpPr txBox="1"/>
          <p:nvPr/>
        </p:nvSpPr>
        <p:spPr>
          <a:xfrm>
            <a:off x="822960" y="1783080"/>
            <a:ext cx="10543032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1F2A44"/>
                </a:solidFill>
              </a:rPr>
              <a:t>Extending SimpleMem with Laya/Jev-Based Adaptive Retrieval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822960" y="3337560"/>
            <a:ext cx="10543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525B68"/>
                </a:solidFill>
              </a:rPr>
              <a:t>One scoring call per question replaces LLM retrieval planning.</a:t>
            </a:r>
          </a:p>
        </p:txBody>
      </p:sp>
      <p:sp>
        <p:nvSpPr>
          <p:cNvPr id="8" name="Hero panel"/>
          <p:cNvSpPr/>
          <p:nvPr/>
        </p:nvSpPr>
        <p:spPr>
          <a:xfrm>
            <a:off x="411480" y="4023360"/>
            <a:ext cx="11365992" cy="1325880"/>
          </a:xfrm>
          <a:prstGeom prst="roundRect">
            <a:avLst>
              <a:gd name="adj" fmla="val 4350"/>
            </a:avLst>
          </a:prstGeom>
          <a:solidFill>
            <a:srgbClr val="F7F8FA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 perso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457" y="4133088"/>
            <a:ext cx="802125" cy="822960"/>
          </a:xfrm>
          <a:prstGeom prst="rect">
            <a:avLst/>
          </a:prstGeom>
        </p:spPr>
      </p:pic>
      <p:sp>
        <p:nvSpPr>
          <p:cNvPr id="10" name="Hero label question"/>
          <p:cNvSpPr txBox="1"/>
          <p:nvPr/>
        </p:nvSpPr>
        <p:spPr>
          <a:xfrm>
            <a:off x="960120" y="50474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25B68"/>
                </a:solidFill>
              </a:rPr>
              <a:t>QUESTION</a:t>
            </a:r>
          </a:p>
        </p:txBody>
      </p:sp>
      <p:cxnSp>
        <p:nvCxnSpPr>
          <p:cNvPr id="11" name="Arrow hero 1"/>
          <p:cNvCxnSpPr/>
          <p:nvPr/>
        </p:nvCxnSpPr>
        <p:spPr>
          <a:xfrm>
            <a:off x="2423160" y="4681728"/>
            <a:ext cx="1371600" cy="0"/>
          </a:xfrm>
          <a:prstGeom prst="line">
            <a:avLst/>
          </a:prstGeom>
          <a:ln w="25400">
            <a:solidFill>
              <a:srgbClr val="3741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Hero call"/>
          <p:cNvSpPr/>
          <p:nvPr/>
        </p:nvSpPr>
        <p:spPr>
          <a:xfrm>
            <a:off x="3931920" y="4160520"/>
            <a:ext cx="2679192" cy="105156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con robo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827" y="4224528"/>
            <a:ext cx="595784" cy="914400"/>
          </a:xfrm>
          <a:prstGeom prst="rect">
            <a:avLst/>
          </a:prstGeom>
        </p:spPr>
      </p:pic>
      <p:sp>
        <p:nvSpPr>
          <p:cNvPr id="14" name="Hero call text"/>
          <p:cNvSpPr txBox="1"/>
          <p:nvPr/>
        </p:nvSpPr>
        <p:spPr>
          <a:xfrm>
            <a:off x="5120640" y="4160520"/>
            <a:ext cx="14173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C0392B"/>
                </a:solidFill>
              </a:rPr>
              <a:t>1 call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374151"/>
                </a:solidFill>
              </a:rPr>
              <a:t>four yes/no scores, no planner</a:t>
            </a:r>
          </a:p>
        </p:txBody>
      </p:sp>
      <p:cxnSp>
        <p:nvCxnSpPr>
          <p:cNvPr id="15" name="Arrow hero 2"/>
          <p:cNvCxnSpPr/>
          <p:nvPr/>
        </p:nvCxnSpPr>
        <p:spPr>
          <a:xfrm>
            <a:off x="6748272" y="4681728"/>
            <a:ext cx="1371599" cy="0"/>
          </a:xfrm>
          <a:prstGeom prst="line">
            <a:avLst/>
          </a:prstGeom>
          <a:ln w="25400">
            <a:solidFill>
              <a:srgbClr val="3741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ero answer"/>
          <p:cNvSpPr/>
          <p:nvPr/>
        </p:nvSpPr>
        <p:spPr>
          <a:xfrm>
            <a:off x="8257031" y="416052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ro answer text"/>
          <p:cNvSpPr txBox="1"/>
          <p:nvPr/>
        </p:nvSpPr>
        <p:spPr>
          <a:xfrm>
            <a:off x="8348472" y="4160520"/>
            <a:ext cx="22860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2A44"/>
                </a:solidFill>
              </a:rPr>
              <a:t>Adaptive retrieval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374151"/>
                </a:solidFill>
              </a:rPr>
              <a:t>budget K per question, then answer</a:t>
            </a:r>
          </a:p>
        </p:txBody>
      </p:sp>
      <p:sp>
        <p:nvSpPr>
          <p:cNvPr id="18" name="Card Team"/>
          <p:cNvSpPr/>
          <p:nvPr/>
        </p:nvSpPr>
        <p:spPr>
          <a:xfrm>
            <a:off x="411480" y="5669280"/>
            <a:ext cx="3657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label 1"/>
          <p:cNvSpPr txBox="1"/>
          <p:nvPr/>
        </p:nvSpPr>
        <p:spPr>
          <a:xfrm>
            <a:off x="640080" y="58338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25B68"/>
                </a:solidFill>
              </a:rPr>
              <a:t>TEAM</a:t>
            </a:r>
          </a:p>
        </p:txBody>
      </p:sp>
      <p:sp>
        <p:nvSpPr>
          <p:cNvPr id="20" name="Card text 1"/>
          <p:cNvSpPr txBox="1"/>
          <p:nvPr/>
        </p:nvSpPr>
        <p:spPr>
          <a:xfrm>
            <a:off x="640080" y="6126480"/>
            <a:ext cx="3200400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A44"/>
                </a:solidFill>
              </a:rPr>
              <a:t>Team A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374151"/>
                </a:solidFill>
              </a:rPr>
              <a:t>Ali Al Mokdad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374151"/>
                </a:solidFill>
              </a:rPr>
              <a:t>Joelle Barhoun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</a:rPr>
              <a:t>Ali Kheireddine</a:t>
            </a:r>
          </a:p>
        </p:txBody>
      </p:sp>
      <p:sp>
        <p:nvSpPr>
          <p:cNvPr id="21" name="Card Original Paper"/>
          <p:cNvSpPr/>
          <p:nvPr/>
        </p:nvSpPr>
        <p:spPr>
          <a:xfrm>
            <a:off x="4265676" y="5669280"/>
            <a:ext cx="3657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label 2"/>
          <p:cNvSpPr txBox="1"/>
          <p:nvPr/>
        </p:nvSpPr>
        <p:spPr>
          <a:xfrm>
            <a:off x="4494276" y="58338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25B68"/>
                </a:solidFill>
              </a:rPr>
              <a:t>ORIGINAL PAPER</a:t>
            </a:r>
          </a:p>
        </p:txBody>
      </p:sp>
      <p:sp>
        <p:nvSpPr>
          <p:cNvPr id="23" name="Card text 2"/>
          <p:cNvSpPr txBox="1"/>
          <p:nvPr/>
        </p:nvSpPr>
        <p:spPr>
          <a:xfrm>
            <a:off x="4494276" y="6126480"/>
            <a:ext cx="3200400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A44"/>
                </a:solidFill>
              </a:rPr>
              <a:t>SimpleMem: Efficient Lifelong Memory for LLM Agents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</a:rPr>
              <a:t>Liu et al. · ICML 2026</a:t>
            </a:r>
          </a:p>
        </p:txBody>
      </p:sp>
      <p:sp>
        <p:nvSpPr>
          <p:cNvPr id="24" name="Card Course"/>
          <p:cNvSpPr/>
          <p:nvPr/>
        </p:nvSpPr>
        <p:spPr>
          <a:xfrm>
            <a:off x="8119871" y="5669280"/>
            <a:ext cx="3657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label 3"/>
          <p:cNvSpPr txBox="1"/>
          <p:nvPr/>
        </p:nvSpPr>
        <p:spPr>
          <a:xfrm>
            <a:off x="8348471" y="58338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25B68"/>
                </a:solidFill>
              </a:rPr>
              <a:t>COURSE</a:t>
            </a:r>
          </a:p>
        </p:txBody>
      </p:sp>
      <p:sp>
        <p:nvSpPr>
          <p:cNvPr id="26" name="Card text 3"/>
          <p:cNvSpPr txBox="1"/>
          <p:nvPr/>
        </p:nvSpPr>
        <p:spPr>
          <a:xfrm>
            <a:off x="8348471" y="6126480"/>
            <a:ext cx="3200400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A44"/>
                </a:solidFill>
              </a:rPr>
              <a:t>Data Science for Conversational AI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</a:rPr>
              <a:t>Lebanese University</a:t>
            </a:r>
          </a:p>
        </p:txBody>
      </p:sp>
      <p:sp>
        <p:nvSpPr>
          <p:cNvPr id="27" name="Presented for"/>
          <p:cNvSpPr txBox="1"/>
          <p:nvPr/>
        </p:nvSpPr>
        <p:spPr>
          <a:xfrm>
            <a:off x="411480" y="7589520"/>
            <a:ext cx="113659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25B68"/>
                </a:solidFill>
              </a:rPr>
              <a:t>Presented for: </a:t>
            </a:r>
            <a:r>
              <a:rPr sz="1300" b="1">
                <a:solidFill>
                  <a:srgbClr val="1F2A44"/>
                </a:solidFill>
              </a:rPr>
              <a:t>Dr. Ahmad Abboud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182880"/>
            <a:ext cx="11368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SimpleMem baseline: how the pipeline works and what it costs</a:t>
            </a:r>
            <a:endParaRPr lang="en-US" sz="2600" dirty="0"/>
          </a:p>
        </p:txBody>
      </p:sp>
      <p:sp>
        <p:nvSpPr>
          <p:cNvPr id="3" name="Subtitle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B68"/>
                </a:solidFill>
              </a:rPr>
              <a:t>Memory is compressed and indexed once; an LLM then plans, reflects and answers for every question.</a:t>
            </a:r>
            <a:endParaRPr lang="en-US" sz="1300" dirty="0"/>
          </a:p>
        </p:txBody>
      </p:sp>
      <p:sp>
        <p:nvSpPr>
          <p:cNvPr id="4" name="Section a"/>
          <p:cNvSpPr txBox="1"/>
          <p:nvPr/>
        </p:nvSpPr>
        <p:spPr>
          <a:xfrm>
            <a:off x="411480" y="2660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(b) Pipeline</a:t>
            </a:r>
            <a:endParaRPr lang="en-US" sz="1500" dirty="0"/>
          </a:p>
        </p:txBody>
      </p:sp>
      <p:sp>
        <p:nvSpPr>
          <p:cNvPr id="5" name="Pipeline panel"/>
          <p:cNvSpPr/>
          <p:nvPr/>
        </p:nvSpPr>
        <p:spPr>
          <a:xfrm>
            <a:off x="411480" y="2935224"/>
            <a:ext cx="11365992" cy="2633472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6" name="Write label"/>
          <p:cNvSpPr txBox="1"/>
          <p:nvPr/>
        </p:nvSpPr>
        <p:spPr>
          <a:xfrm>
            <a:off x="640080" y="302666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5B68"/>
                </a:solidFill>
              </a:rPr>
              <a:t>WRITE PATH · ONCE PER CONVERSATION</a:t>
            </a:r>
            <a:endParaRPr lang="en-US" sz="1100" dirty="0"/>
          </a:p>
        </p:txBody>
      </p:sp>
      <p:sp>
        <p:nvSpPr>
          <p:cNvPr id="7" name="Conversation"/>
          <p:cNvSpPr/>
          <p:nvPr/>
        </p:nvSpPr>
        <p:spPr>
          <a:xfrm>
            <a:off x="640080" y="3282696"/>
            <a:ext cx="2377440" cy="6217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F2A44"/>
            </a:solidFill>
            <a:prstDash val="solid"/>
          </a:ln>
        </p:spPr>
        <p:txBody>
          <a:bodyPr/>
          <a:p/>
        </p:txBody>
      </p:sp>
      <p:sp>
        <p:nvSpPr>
          <p:cNvPr id="8" name="Conversation text"/>
          <p:cNvSpPr txBox="1"/>
          <p:nvPr/>
        </p:nvSpPr>
        <p:spPr>
          <a:xfrm>
            <a:off x="731520" y="33192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</a:rPr>
              <a:t>Conversation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19 sessions, 419 turns (LoCoMo conv-26)</a:t>
            </a:r>
            <a:endParaRPr lang="en-US" sz="1200" dirty="0"/>
          </a:p>
        </p:txBody>
      </p:sp>
      <p:sp>
        <p:nvSpPr>
          <p:cNvPr id="9" name="Compression"/>
          <p:cNvSpPr/>
          <p:nvPr/>
        </p:nvSpPr>
        <p:spPr>
          <a:xfrm>
            <a:off x="3474720" y="3282696"/>
            <a:ext cx="2377440" cy="621792"/>
          </a:xfrm>
          <a:prstGeom prst="roundRect">
            <a:avLst>
              <a:gd name="adj" fmla="val 11111"/>
            </a:avLst>
          </a:prstGeom>
          <a:solidFill>
            <a:srgbClr val="EAF1FA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Compression text"/>
          <p:cNvSpPr txBox="1"/>
          <p:nvPr/>
        </p:nvSpPr>
        <p:spPr>
          <a:xfrm>
            <a:off x="3566160" y="33192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</a:rPr>
              <a:t>1 · Structured compression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LLM extracts facts; pronouns → names, relative → absolute dates</a:t>
            </a:r>
            <a:endParaRPr lang="en-US" sz="1200" dirty="0"/>
          </a:p>
        </p:txBody>
      </p:sp>
      <p:sp>
        <p:nvSpPr>
          <p:cNvPr id="11" name="Synthesis"/>
          <p:cNvSpPr/>
          <p:nvPr/>
        </p:nvSpPr>
        <p:spPr>
          <a:xfrm>
            <a:off x="6309360" y="3282696"/>
            <a:ext cx="2377440" cy="621792"/>
          </a:xfrm>
          <a:prstGeom prst="roundRect">
            <a:avLst>
              <a:gd name="adj" fmla="val 11111"/>
            </a:avLst>
          </a:prstGeom>
          <a:solidFill>
            <a:srgbClr val="E4F4F2"/>
          </a:solidFill>
          <a:ln w="1905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2" name="Synthesis text"/>
          <p:cNvSpPr txBox="1"/>
          <p:nvPr/>
        </p:nvSpPr>
        <p:spPr>
          <a:xfrm>
            <a:off x="6400800" y="33192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</a:rPr>
              <a:t>2 · Online synthesis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related facts are merged, then indexed three ways</a:t>
            </a:r>
            <a:endParaRPr lang="en-US" sz="1200" dirty="0"/>
          </a:p>
        </p:txBody>
      </p:sp>
      <p:sp>
        <p:nvSpPr>
          <p:cNvPr id="13" name="Memory store"/>
          <p:cNvSpPr/>
          <p:nvPr/>
        </p:nvSpPr>
        <p:spPr>
          <a:xfrm>
            <a:off x="9144000" y="3282696"/>
            <a:ext cx="2377440" cy="621792"/>
          </a:xfrm>
          <a:prstGeom prst="roundRect">
            <a:avLst>
              <a:gd name="adj" fmla="val 11111"/>
            </a:avLst>
          </a:prstGeom>
          <a:solidFill>
            <a:srgbClr val="E6F3EA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4" name="Memory store text"/>
          <p:cNvSpPr txBox="1"/>
          <p:nvPr/>
        </p:nvSpPr>
        <p:spPr>
          <a:xfrm>
            <a:off x="9235440" y="33192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</a:rPr>
              <a:t>Memory store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LanceDB · 336 memories · semantic, lexical, symbolic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3044952" y="3593591"/>
            <a:ext cx="402336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Arrow"/>
          <p:cNvSpPr/>
          <p:nvPr/>
        </p:nvSpPr>
        <p:spPr>
          <a:xfrm>
            <a:off x="5879592" y="3593591"/>
            <a:ext cx="402336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Arrow"/>
          <p:cNvSpPr/>
          <p:nvPr/>
        </p:nvSpPr>
        <p:spPr>
          <a:xfrm>
            <a:off x="8714232" y="3593591"/>
            <a:ext cx="402336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Read label"/>
          <p:cNvSpPr txBox="1"/>
          <p:nvPr/>
        </p:nvSpPr>
        <p:spPr>
          <a:xfrm>
            <a:off x="640080" y="4142231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25B68"/>
                </a:solidFill>
              </a:rPr>
              <a:t>READ PATH · EVERY QUESTION</a:t>
            </a:r>
            <a:endParaRPr lang="en-US" sz="1100" dirty="0"/>
          </a:p>
        </p:txBody>
      </p:sp>
      <p:sp>
        <p:nvSpPr>
          <p:cNvPr id="19" name="Read legend"/>
          <p:cNvSpPr txBox="1"/>
          <p:nvPr/>
        </p:nvSpPr>
        <p:spPr>
          <a:xfrm>
            <a:off x="6400800" y="4142231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red = LLM calls our extension replaces or removes</a:t>
            </a:r>
            <a:endParaRPr lang="en-US" sz="1100" dirty="0"/>
          </a:p>
        </p:txBody>
      </p:sp>
      <p:sp>
        <p:nvSpPr>
          <p:cNvPr id="20" name="Question"/>
          <p:cNvSpPr/>
          <p:nvPr/>
        </p:nvSpPr>
        <p:spPr>
          <a:xfrm>
            <a:off x="640080" y="4379975"/>
            <a:ext cx="16002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2A44"/>
            </a:solidFill>
            <a:prstDash val="solid"/>
          </a:ln>
        </p:spPr>
        <p:txBody>
          <a:bodyPr/>
          <a:p/>
        </p:txBody>
      </p:sp>
      <p:sp>
        <p:nvSpPr>
          <p:cNvPr id="21" name="Question text"/>
          <p:cNvSpPr txBox="1"/>
          <p:nvPr/>
        </p:nvSpPr>
        <p:spPr>
          <a:xfrm>
            <a:off x="731520" y="480974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</a:rPr>
              <a:t>Question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passed to the planner</a:t>
            </a:r>
            <a:endParaRPr lang="en-US" sz="1200" dirty="0"/>
          </a:p>
        </p:txBody>
      </p:sp>
      <p:sp>
        <p:nvSpPr>
          <p:cNvPr id="22" name="Plan"/>
          <p:cNvSpPr/>
          <p:nvPr/>
        </p:nvSpPr>
        <p:spPr>
          <a:xfrm>
            <a:off x="2496312" y="4379975"/>
            <a:ext cx="1600200" cy="1133856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905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3" name="Plan text"/>
          <p:cNvSpPr txBox="1"/>
          <p:nvPr/>
        </p:nvSpPr>
        <p:spPr>
          <a:xfrm>
            <a:off x="2587752" y="480974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</a:rPr>
              <a:t>3 · Plan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LLM writes queries, keywords and depth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C0392B"/>
                </a:solidFill>
              </a:rPr>
              <a:t>LLM calls</a:t>
            </a:r>
            <a:endParaRPr lang="en-US" sz="1200" dirty="0"/>
          </a:p>
        </p:txBody>
      </p:sp>
      <p:sp>
        <p:nvSpPr>
          <p:cNvPr id="24" name="Search"/>
          <p:cNvSpPr/>
          <p:nvPr/>
        </p:nvSpPr>
        <p:spPr>
          <a:xfrm>
            <a:off x="4352544" y="4379975"/>
            <a:ext cx="16002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2A44"/>
            </a:solidFill>
            <a:prstDash val="solid"/>
          </a:ln>
        </p:spPr>
        <p:txBody>
          <a:bodyPr/>
          <a:p/>
        </p:txBody>
      </p:sp>
      <p:sp>
        <p:nvSpPr>
          <p:cNvPr id="25" name="Search text"/>
          <p:cNvSpPr txBox="1"/>
          <p:nvPr/>
        </p:nvSpPr>
        <p:spPr>
          <a:xfrm>
            <a:off x="4443984" y="4425695"/>
            <a:ext cx="1417320" cy="1042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</a:rPr>
              <a:t>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semantic, lexical and symbolic indexes</a:t>
            </a:r>
            <a:endParaRPr lang="en-US" sz="1200" dirty="0"/>
          </a:p>
        </p:txBody>
      </p:sp>
      <p:sp>
        <p:nvSpPr>
          <p:cNvPr id="26" name="Merge"/>
          <p:cNvSpPr/>
          <p:nvPr/>
        </p:nvSpPr>
        <p:spPr>
          <a:xfrm>
            <a:off x="6208776" y="4379975"/>
            <a:ext cx="16002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2A44"/>
            </a:solidFill>
            <a:prstDash val="solid"/>
          </a:ln>
        </p:spPr>
        <p:txBody>
          <a:bodyPr/>
          <a:p/>
        </p:txBody>
      </p:sp>
      <p:sp>
        <p:nvSpPr>
          <p:cNvPr id="27" name="Merge text"/>
          <p:cNvSpPr txBox="1"/>
          <p:nvPr/>
        </p:nvSpPr>
        <p:spPr>
          <a:xfrm>
            <a:off x="6300216" y="4425695"/>
            <a:ext cx="1417320" cy="1042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</a:rPr>
              <a:t>Merge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union, deduplicate</a:t>
            </a:r>
            <a:endParaRPr lang="en-US" sz="1200" dirty="0"/>
          </a:p>
        </p:txBody>
      </p:sp>
      <p:sp>
        <p:nvSpPr>
          <p:cNvPr id="28" name="Reflect"/>
          <p:cNvSpPr/>
          <p:nvPr/>
        </p:nvSpPr>
        <p:spPr>
          <a:xfrm>
            <a:off x="8065008" y="4379975"/>
            <a:ext cx="1600200" cy="1133856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905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Reflect text"/>
          <p:cNvSpPr txBox="1"/>
          <p:nvPr/>
        </p:nvSpPr>
        <p:spPr>
          <a:xfrm>
            <a:off x="8156448" y="480974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</a:rPr>
              <a:t>Reflect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up to 2 rounds: check, search again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C0392B"/>
                </a:solidFill>
              </a:rPr>
              <a:t>LLM calls</a:t>
            </a:r>
            <a:endParaRPr lang="en-US" sz="1200" dirty="0"/>
          </a:p>
        </p:txBody>
      </p:sp>
      <p:sp>
        <p:nvSpPr>
          <p:cNvPr id="30" name="Answer"/>
          <p:cNvSpPr/>
          <p:nvPr/>
        </p:nvSpPr>
        <p:spPr>
          <a:xfrm>
            <a:off x="9921240" y="4379975"/>
            <a:ext cx="160020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2A44"/>
            </a:solidFill>
            <a:prstDash val="solid"/>
          </a:ln>
        </p:spPr>
        <p:txBody>
          <a:bodyPr/>
          <a:p/>
        </p:txBody>
      </p:sp>
      <p:sp>
        <p:nvSpPr>
          <p:cNvPr id="31" name="Answer text"/>
          <p:cNvSpPr txBox="1"/>
          <p:nvPr/>
        </p:nvSpPr>
        <p:spPr>
          <a:xfrm>
            <a:off x="10012680" y="480974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F2A44"/>
                </a:solidFill>
              </a:rPr>
              <a:t>Answer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374151"/>
                </a:solidFill>
              </a:rPr>
              <a:t>GPT-4.1-mini over the merged memories</a:t>
            </a:r>
            <a:endParaRPr lang="en-US" sz="12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525B68"/>
                </a:solidFill>
              </a:rPr>
              <a:t>LLM call, kept</a:t>
            </a:r>
            <a:endParaRPr lang="en-US" sz="1200" dirty="0"/>
          </a:p>
        </p:txBody>
      </p:sp>
      <p:sp>
        <p:nvSpPr>
          <p:cNvPr id="32" name="Arrow"/>
          <p:cNvSpPr/>
          <p:nvPr/>
        </p:nvSpPr>
        <p:spPr>
          <a:xfrm>
            <a:off x="2258568" y="4946903"/>
            <a:ext cx="219456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Arrow"/>
          <p:cNvSpPr/>
          <p:nvPr/>
        </p:nvSpPr>
        <p:spPr>
          <a:xfrm>
            <a:off x="4114800" y="4946903"/>
            <a:ext cx="219456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Arrow"/>
          <p:cNvSpPr/>
          <p:nvPr/>
        </p:nvSpPr>
        <p:spPr>
          <a:xfrm>
            <a:off x="5971032" y="4946903"/>
            <a:ext cx="219456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Arrow"/>
          <p:cNvSpPr/>
          <p:nvPr/>
        </p:nvSpPr>
        <p:spPr>
          <a:xfrm>
            <a:off x="7827264" y="4946903"/>
            <a:ext cx="219456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Arrow"/>
          <p:cNvSpPr/>
          <p:nvPr/>
        </p:nvSpPr>
        <p:spPr>
          <a:xfrm>
            <a:off x="9683496" y="4946903"/>
            <a:ext cx="219456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Index link 1"/>
          <p:cNvSpPr/>
          <p:nvPr/>
        </p:nvSpPr>
        <p:spPr>
          <a:xfrm>
            <a:off x="10332720" y="3904487"/>
            <a:ext cx="0" cy="20116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  <p:txBody>
          <a:bodyPr/>
          <a:p/>
        </p:txBody>
      </p:sp>
      <p:sp>
        <p:nvSpPr>
          <p:cNvPr id="38" name="Index link 2"/>
          <p:cNvSpPr/>
          <p:nvPr/>
        </p:nvSpPr>
        <p:spPr>
          <a:xfrm>
            <a:off x="5152644" y="4105655"/>
            <a:ext cx="518007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  <p:txBody>
          <a:bodyPr/>
          <a:p/>
        </p:txBody>
      </p:sp>
      <p:sp>
        <p:nvSpPr>
          <p:cNvPr id="39" name="Index link 3"/>
          <p:cNvSpPr/>
          <p:nvPr/>
        </p:nvSpPr>
        <p:spPr>
          <a:xfrm>
            <a:off x="5152644" y="4105655"/>
            <a:ext cx="0" cy="274319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0" name="Section b"/>
          <p:cNvSpPr txBox="1"/>
          <p:nvPr/>
        </p:nvSpPr>
        <p:spPr>
          <a:xfrm>
            <a:off x="411480" y="56601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(c) Where the cost comes from</a:t>
            </a:r>
            <a:endParaRPr lang="en-US" sz="1500" dirty="0"/>
          </a:p>
        </p:txBody>
      </p:sp>
      <p:sp>
        <p:nvSpPr>
          <p:cNvPr id="41" name="Cost panel"/>
          <p:cNvSpPr/>
          <p:nvPr/>
        </p:nvSpPr>
        <p:spPr>
          <a:xfrm>
            <a:off x="411480" y="5934455"/>
            <a:ext cx="6675120" cy="2020824"/>
          </a:xfrm>
          <a:prstGeom prst="roundRect">
            <a:avLst>
              <a:gd name="adj" fmla="val 5085"/>
            </a:avLst>
          </a:prstGeom>
          <a:solidFill>
            <a:srgbClr val="F7F8FA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42" name="Cost header"/>
          <p:cNvSpPr txBox="1"/>
          <p:nvPr/>
        </p:nvSpPr>
        <p:spPr>
          <a:xfrm>
            <a:off x="640080" y="6025895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Tokens per question, by stage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25B68"/>
                </a:solidFill>
              </a:rPr>
              <a:t>our run of the released code · 8,444 tokens per query in total</a:t>
            </a:r>
            <a:endParaRPr lang="en-US" sz="13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548640" y="6409944"/>
          <a:ext cx="6400800" cy="1252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4" name="Cost note"/>
          <p:cNvSpPr txBox="1"/>
          <p:nvPr/>
        </p:nvSpPr>
        <p:spPr>
          <a:xfrm>
            <a:off x="640080" y="7680959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About 59% of the tokens go to the planning, query-analysis and reflection calls.</a:t>
            </a:r>
            <a:endParaRPr lang="en-US" sz="1100" dirty="0"/>
          </a:p>
        </p:txBody>
      </p:sp>
      <p:sp>
        <p:nvSpPr>
          <p:cNvPr id="45" name="Section c"/>
          <p:cNvSpPr txBox="1"/>
          <p:nvPr/>
        </p:nvSpPr>
        <p:spPr>
          <a:xfrm>
            <a:off x="7269480" y="5660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Reading the figure</a:t>
            </a:r>
            <a:endParaRPr lang="en-US" sz="1500" dirty="0"/>
          </a:p>
        </p:txBody>
      </p:sp>
      <p:sp>
        <p:nvSpPr>
          <p:cNvPr id="46" name="Reading panel"/>
          <p:cNvSpPr/>
          <p:nvPr/>
        </p:nvSpPr>
        <p:spPr>
          <a:xfrm>
            <a:off x="7269480" y="5934455"/>
            <a:ext cx="4507992" cy="2020824"/>
          </a:xfrm>
          <a:prstGeom prst="roundRect">
            <a:avLst>
              <a:gd name="adj" fmla="val 5085"/>
            </a:avLst>
          </a:prstGeom>
          <a:solidFill>
            <a:srgbClr val="F7F8FA"/>
          </a:solidFill>
          <a:ln w="12700">
            <a:solidFill>
              <a:srgbClr val="D5D9E0"/>
            </a:solidFill>
            <a:prstDash val="solid"/>
          </a:ln>
        </p:spPr>
        <p:txBody>
          <a:bodyPr/>
          <a:p/>
        </p:txBody>
      </p:sp>
      <p:sp>
        <p:nvSpPr>
          <p:cNvPr id="47" name="Reading text"/>
          <p:cNvSpPr txBox="1"/>
          <p:nvPr/>
        </p:nvSpPr>
        <p:spPr>
          <a:xfrm>
            <a:off x="7498080" y="6025895"/>
            <a:ext cx="4069080" cy="1837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 · Write once.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74151"/>
                </a:solidFill>
              </a:rPr>
              <a:t>Dialogue becomes self-contained memories, indexed three ways.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2 · Plan per question.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74151"/>
                </a:solidFill>
              </a:rPr>
              <a:t>A planner LLM sets queries and depth; reflection adds up to two more rounds.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3 · Published.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374151"/>
                </a:solidFill>
              </a:rPr>
              <a:t>43.24% F1 at 531 tokens/query, vs 34.20% F1 and ~973 for Mem0.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4 · Our run.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41.25 macro-F1 at 8,444 tokens/query. Planning and reflection are what we replace.</a:t>
            </a:r>
            <a:endParaRPr lang="en-US" sz="1200" dirty="0"/>
          </a:p>
        </p:txBody>
      </p:sp>
      <p:sp>
        <p:nvSpPr>
          <p:cNvPr id="48" name="Caption"/>
          <p:cNvSpPr txBox="1"/>
          <p:nvPr/>
        </p:nvSpPr>
        <p:spPr>
          <a:xfrm>
            <a:off x="411480" y="8046720"/>
            <a:ext cx="11368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B68"/>
                </a:solidFill>
              </a:rPr>
              <a:t>Token figures come from our reproduction of the released code (LoCoMo conv-26, 199 questions); the paper's 531 tokens/query could not be reproduced.</a:t>
            </a:r>
            <a:endParaRPr lang="en-US" sz="1000" dirty="0"/>
          </a:p>
        </p:txBody>
      </p:sp>
      <p:sp>
        <p:nvSpPr>
          <p:cNvPr id="49" name="Section problem"/>
          <p:cNvSpPr txBox="1"/>
          <p:nvPr/>
        </p:nvSpPr>
        <p:spPr>
          <a:xfrm>
            <a:off x="41148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(a) The problem: long chats are costly and noisy</a:t>
            </a:r>
            <a:endParaRPr lang="en-US" sz="1500" dirty="0"/>
          </a:p>
        </p:txBody>
      </p:sp>
      <p:sp>
        <p:nvSpPr>
          <p:cNvPr id="50" name="Problem panel"/>
          <p:cNvSpPr/>
          <p:nvPr/>
        </p:nvSpPr>
        <p:spPr>
          <a:xfrm>
            <a:off x="411480" y="1225296"/>
            <a:ext cx="11365992" cy="1344168"/>
          </a:xfrm>
          <a:prstGeom prst="roundRect">
            <a:avLst>
              <a:gd name="adj" fmla="val 4350"/>
            </a:avLst>
          </a:prstGeom>
          <a:solidFill>
            <a:srgbClr val="F7F8FA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roblem cap 1"/>
          <p:cNvSpPr txBox="1"/>
          <p:nvPr/>
        </p:nvSpPr>
        <p:spPr>
          <a:xfrm>
            <a:off x="640080" y="1316736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525B68"/>
                </a:solidFill>
              </a:rPr>
              <a:t>EFFICIENCY · SMALL TALK FILLS THE CONTEXT</a:t>
            </a:r>
          </a:p>
        </p:txBody>
      </p:sp>
      <p:sp>
        <p:nvSpPr>
          <p:cNvPr id="52" name="Problem cap 2"/>
          <p:cNvSpPr txBox="1"/>
          <p:nvPr/>
        </p:nvSpPr>
        <p:spPr>
          <a:xfrm>
            <a:off x="6355080" y="131673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525B68"/>
                </a:solidFill>
              </a:rPr>
              <a:t>RETRIEVAL · THE FACT IS BURIED</a:t>
            </a:r>
          </a:p>
        </p:txBody>
      </p:sp>
      <p:sp>
        <p:nvSpPr>
          <p:cNvPr id="53" name="Problem cap 3"/>
          <p:cNvSpPr txBox="1"/>
          <p:nvPr/>
        </p:nvSpPr>
        <p:spPr>
          <a:xfrm>
            <a:off x="9144000" y="131673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C0392B"/>
                </a:solidFill>
              </a:rPr>
              <a:t>COST OF READING · EVERY QUESTION</a:t>
            </a:r>
          </a:p>
        </p:txBody>
      </p:sp>
      <p:sp>
        <p:nvSpPr>
          <p:cNvPr id="54" name="Bubble noise 1"/>
          <p:cNvSpPr/>
          <p:nvPr/>
        </p:nvSpPr>
        <p:spPr>
          <a:xfrm>
            <a:off x="640080" y="1527048"/>
            <a:ext cx="10058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F2A44"/>
                </a:solidFill>
              </a:rPr>
              <a:t>Caroline: </a:t>
            </a:r>
            <a:r>
              <a:rPr sz="900" b="0">
                <a:solidFill>
                  <a:srgbClr val="374151"/>
                </a:solidFill>
              </a:rPr>
              <a:t>How are your pets?</a:t>
            </a:r>
          </a:p>
          <a:p>
            <a:pPr algn="r"/>
            <a:r>
              <a:rPr sz="850" b="1" i="1">
                <a:solidFill>
                  <a:srgbClr val="525B68"/>
                </a:solidFill>
              </a:rPr>
              <a:t>noise</a:t>
            </a:r>
          </a:p>
        </p:txBody>
      </p:sp>
      <p:sp>
        <p:nvSpPr>
          <p:cNvPr id="55" name="Bubble noise 2"/>
          <p:cNvSpPr/>
          <p:nvPr/>
        </p:nvSpPr>
        <p:spPr>
          <a:xfrm>
            <a:off x="1737360" y="1527048"/>
            <a:ext cx="10058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F2A44"/>
                </a:solidFill>
              </a:rPr>
              <a:t>Melanie: </a:t>
            </a:r>
            <a:r>
              <a:rPr sz="900" b="0">
                <a:solidFill>
                  <a:srgbClr val="374151"/>
                </a:solidFill>
              </a:rPr>
              <a:t>They're doing well.</a:t>
            </a:r>
          </a:p>
          <a:p>
            <a:pPr algn="r"/>
            <a:r>
              <a:rPr sz="850" b="1" i="1">
                <a:solidFill>
                  <a:srgbClr val="525B68"/>
                </a:solidFill>
              </a:rPr>
              <a:t>noise</a:t>
            </a:r>
          </a:p>
        </p:txBody>
      </p:sp>
      <p:sp>
        <p:nvSpPr>
          <p:cNvPr id="56" name="Bubble needed"/>
          <p:cNvSpPr/>
          <p:nvPr/>
        </p:nvSpPr>
        <p:spPr>
          <a:xfrm>
            <a:off x="2834640" y="1527048"/>
            <a:ext cx="1005840" cy="960120"/>
          </a:xfrm>
          <a:prstGeom prst="roundRect">
            <a:avLst>
              <a:gd name="adj" fmla="val 12000"/>
            </a:avLst>
          </a:prstGeom>
          <a:solidFill>
            <a:srgbClr val="E6F3EA"/>
          </a:solidFill>
          <a:ln w="22225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F2A44"/>
                </a:solidFill>
              </a:rPr>
              <a:t>Melanie: </a:t>
            </a:r>
            <a:r>
              <a:rPr sz="900" b="0">
                <a:solidFill>
                  <a:srgbClr val="374151"/>
                </a:solidFill>
              </a:rPr>
              <a:t>Oliver hid his bone in my slipper!</a:t>
            </a:r>
          </a:p>
          <a:p>
            <a:pPr algn="r"/>
            <a:r>
              <a:rPr sz="850" b="1">
                <a:solidFill>
                  <a:srgbClr val="3E8E5A"/>
                </a:solidFill>
              </a:rPr>
              <a:t>needed</a:t>
            </a:r>
          </a:p>
        </p:txBody>
      </p:sp>
      <p:sp>
        <p:nvSpPr>
          <p:cNvPr id="57" name="Bubble noise 4"/>
          <p:cNvSpPr/>
          <p:nvPr/>
        </p:nvSpPr>
        <p:spPr>
          <a:xfrm>
            <a:off x="3931920" y="1527048"/>
            <a:ext cx="100584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36576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F2A44"/>
                </a:solidFill>
              </a:rPr>
              <a:t>Caroline: </a:t>
            </a:r>
            <a:r>
              <a:rPr sz="900" b="0">
                <a:solidFill>
                  <a:srgbClr val="374151"/>
                </a:solidFill>
              </a:rPr>
              <a:t>That's so funny!</a:t>
            </a:r>
          </a:p>
          <a:p>
            <a:pPr algn="r"/>
            <a:r>
              <a:rPr sz="850" b="1" i="1">
                <a:solidFill>
                  <a:srgbClr val="525B68"/>
                </a:solidFill>
              </a:rPr>
              <a:t>noise</a:t>
            </a:r>
          </a:p>
        </p:txBody>
      </p:sp>
      <p:sp>
        <p:nvSpPr>
          <p:cNvPr id="58" name="Bubble more"/>
          <p:cNvSpPr/>
          <p:nvPr/>
        </p:nvSpPr>
        <p:spPr>
          <a:xfrm>
            <a:off x="5029200" y="1527048"/>
            <a:ext cx="1005840" cy="96012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bIns="36576"/>
          <a:lstStyle/>
          <a:p>
            <a:pPr algn="ctr"/>
            <a:r>
              <a:rPr sz="950" b="0" i="1">
                <a:solidFill>
                  <a:srgbClr val="525B68"/>
                </a:solidFill>
              </a:rPr>
              <a:t>… hundreds more turns …</a:t>
            </a:r>
          </a:p>
        </p:txBody>
      </p:sp>
      <p:sp>
        <p:nvSpPr>
          <p:cNvPr id="59" name="Arrow problem 1"/>
          <p:cNvSpPr/>
          <p:nvPr/>
        </p:nvSpPr>
        <p:spPr>
          <a:xfrm>
            <a:off x="5989320" y="2007108"/>
            <a:ext cx="32004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Problem question"/>
          <p:cNvSpPr/>
          <p:nvPr/>
        </p:nvSpPr>
        <p:spPr>
          <a:xfrm>
            <a:off x="6355080" y="1527048"/>
            <a:ext cx="2606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Icon person" descr="icon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323" y="1636776"/>
            <a:ext cx="721913" cy="740664"/>
          </a:xfrm>
          <a:prstGeom prst="rect">
            <a:avLst/>
          </a:prstGeom>
        </p:spPr>
      </p:pic>
      <p:sp>
        <p:nvSpPr>
          <p:cNvPr id="62" name="Problem question text"/>
          <p:cNvSpPr txBox="1"/>
          <p:nvPr/>
        </p:nvSpPr>
        <p:spPr>
          <a:xfrm>
            <a:off x="7223760" y="1581912"/>
            <a:ext cx="1645920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>
                <a:solidFill>
                  <a:srgbClr val="1F2A44"/>
                </a:solidFill>
              </a:rPr>
              <a:t>Where did Oliver hide his bone once?</a:t>
            </a:r>
          </a:p>
          <a:p>
            <a:r>
              <a:rPr sz="950" b="0">
                <a:solidFill>
                  <a:srgbClr val="374151"/>
                </a:solidFill>
              </a:rPr>
              <a:t>One small detail in a long conversation.</a:t>
            </a:r>
          </a:p>
        </p:txBody>
      </p:sp>
      <p:sp>
        <p:nvSpPr>
          <p:cNvPr id="63" name="Arrow problem 2"/>
          <p:cNvSpPr/>
          <p:nvPr/>
        </p:nvSpPr>
        <p:spPr>
          <a:xfrm>
            <a:off x="8961120" y="2007108"/>
            <a:ext cx="32004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4" name="Problem cost"/>
          <p:cNvSpPr/>
          <p:nvPr/>
        </p:nvSpPr>
        <p:spPr>
          <a:xfrm>
            <a:off x="9326880" y="1527048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Icon robot problem" descr="icon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803" y="1600200"/>
            <a:ext cx="530248" cy="813816"/>
          </a:xfrm>
          <a:prstGeom prst="rect">
            <a:avLst/>
          </a:prstGeom>
        </p:spPr>
      </p:pic>
      <p:sp>
        <p:nvSpPr>
          <p:cNvPr id="66" name="Problem cost text"/>
          <p:cNvSpPr txBox="1"/>
          <p:nvPr/>
        </p:nvSpPr>
        <p:spPr>
          <a:xfrm>
            <a:off x="10076688" y="1572768"/>
            <a:ext cx="14630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>
                <a:solidFill>
                  <a:srgbClr val="C0392B"/>
                </a:solidFill>
              </a:rPr>
              <a:t>8,445 tokens</a:t>
            </a:r>
          </a:p>
          <a:p>
            <a:r>
              <a:rPr sz="950" b="0">
                <a:solidFill>
                  <a:srgbClr val="374151"/>
                </a:solidFill>
              </a:rPr>
              <a:t>and 5.4 LLM calls to answer ONE question</a:t>
            </a:r>
          </a:p>
        </p:txBody>
      </p:sp>
      <p:pic>
        <p:nvPicPr>
          <p:cNvPr id="67" name="Icon person question" descr="icon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754" y="4443983"/>
            <a:ext cx="320850" cy="329184"/>
          </a:xfrm>
          <a:prstGeom prst="rect">
            <a:avLst/>
          </a:prstGeom>
        </p:spPr>
      </p:pic>
      <p:pic>
        <p:nvPicPr>
          <p:cNvPr id="68" name="Icon robot plan" descr="icon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170" y="4443983"/>
            <a:ext cx="214482" cy="329184"/>
          </a:xfrm>
          <a:prstGeom prst="rect">
            <a:avLst/>
          </a:prstGeom>
        </p:spPr>
      </p:pic>
      <p:pic>
        <p:nvPicPr>
          <p:cNvPr id="69" name="Icon robot reflect" descr="icon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866" y="4443983"/>
            <a:ext cx="214482" cy="329184"/>
          </a:xfrm>
          <a:prstGeom prst="rect">
            <a:avLst/>
          </a:prstGeom>
        </p:spPr>
      </p:pic>
      <p:pic>
        <p:nvPicPr>
          <p:cNvPr id="70" name="Icon robot answer" descr="icon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4098" y="4443983"/>
            <a:ext cx="214482" cy="329184"/>
          </a:xfrm>
          <a:prstGeom prst="rect">
            <a:avLst/>
          </a:prstGeom>
        </p:spPr>
      </p:pic>
      <p:pic>
        <p:nvPicPr>
          <p:cNvPr id="71" name="Icon robot cost" descr="icon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649" y="6025895"/>
            <a:ext cx="27406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 title"/>
          <p:cNvSpPr txBox="1"/>
          <p:nvPr/>
        </p:nvSpPr>
        <p:spPr>
          <a:xfrm>
            <a:off x="411480" y="73152"/>
            <a:ext cx="11365992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</a:rPr>
              <a:t>Lightweight budget controllers for SimpleMem retrieval</a:t>
            </a:r>
          </a:p>
        </p:txBody>
      </p:sp>
      <p:sp>
        <p:nvSpPr>
          <p:cNvPr id="3" name="Fig subtitle"/>
          <p:cNvSpPr txBox="1"/>
          <p:nvPr/>
        </p:nvSpPr>
        <p:spPr>
          <a:xfrm>
            <a:off x="411480" y="347472"/>
            <a:ext cx="11365992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</a:rPr>
              <a:t>A controller predicts four retrieval signals from the question; a budget policy turns them into top-k; retrieval and answering are unchanged.</a:t>
            </a:r>
          </a:p>
        </p:txBody>
      </p:sp>
      <p:sp>
        <p:nvSpPr>
          <p:cNvPr id="4" name="Label a"/>
          <p:cNvSpPr txBox="1"/>
          <p:nvPr/>
        </p:nvSpPr>
        <p:spPr>
          <a:xfrm>
            <a:off x="274320" y="585216"/>
            <a:ext cx="365760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</a:rPr>
              <a:t>(a) Pipeline</a:t>
            </a:r>
          </a:p>
        </p:txBody>
      </p:sp>
      <p:sp>
        <p:nvSpPr>
          <p:cNvPr id="5" name="Pipeline panel"/>
          <p:cNvSpPr/>
          <p:nvPr/>
        </p:nvSpPr>
        <p:spPr>
          <a:xfrm>
            <a:off x="201168" y="841248"/>
            <a:ext cx="11786616" cy="3081528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 person question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46" y="1188720"/>
            <a:ext cx="338675" cy="347472"/>
          </a:xfrm>
          <a:prstGeom prst="rect">
            <a:avLst/>
          </a:prstGeom>
        </p:spPr>
      </p:pic>
      <p:sp>
        <p:nvSpPr>
          <p:cNvPr id="7" name="Question"/>
          <p:cNvSpPr/>
          <p:nvPr/>
        </p:nvSpPr>
        <p:spPr>
          <a:xfrm>
            <a:off x="301752" y="1691640"/>
            <a:ext cx="960120" cy="630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</a:rPr>
              <a:t>Question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4B5563"/>
                </a:solidFill>
              </a:rPr>
              <a:t>passed unchanged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4B5563"/>
                </a:solidFill>
              </a:rPr>
              <a:t>(199 LoCoMo QAs)</a:t>
            </a:r>
          </a:p>
        </p:txBody>
      </p:sp>
      <p:cxnSp>
        <p:nvCxnSpPr>
          <p:cNvPr id="8" name="Arrow 1"/>
          <p:cNvCxnSpPr/>
          <p:nvPr/>
        </p:nvCxnSpPr>
        <p:spPr>
          <a:xfrm>
            <a:off x="1261872" y="2002536"/>
            <a:ext cx="310896" cy="0"/>
          </a:xfrm>
          <a:prstGeom prst="line">
            <a:avLst/>
          </a:prstGeom>
          <a:ln w="28575">
            <a:solidFill>
              <a:srgbClr val="3741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 2"/>
          <p:cNvCxnSpPr/>
          <p:nvPr/>
        </p:nvCxnSpPr>
        <p:spPr>
          <a:xfrm>
            <a:off x="3602736" y="2002536"/>
            <a:ext cx="310896" cy="0"/>
          </a:xfrm>
          <a:prstGeom prst="line">
            <a:avLst/>
          </a:prstGeom>
          <a:ln w="28575">
            <a:solidFill>
              <a:srgbClr val="3741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row 3"/>
          <p:cNvCxnSpPr/>
          <p:nvPr/>
        </p:nvCxnSpPr>
        <p:spPr>
          <a:xfrm>
            <a:off x="5513832" y="2002536"/>
            <a:ext cx="310896" cy="0"/>
          </a:xfrm>
          <a:prstGeom prst="line">
            <a:avLst/>
          </a:prstGeom>
          <a:ln w="28575">
            <a:solidFill>
              <a:srgbClr val="3741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 4"/>
          <p:cNvCxnSpPr/>
          <p:nvPr/>
        </p:nvCxnSpPr>
        <p:spPr>
          <a:xfrm>
            <a:off x="8266175" y="2002536"/>
            <a:ext cx="310897" cy="0"/>
          </a:xfrm>
          <a:prstGeom prst="line">
            <a:avLst/>
          </a:prstGeom>
          <a:ln w="28575">
            <a:solidFill>
              <a:srgbClr val="3741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 5"/>
          <p:cNvCxnSpPr/>
          <p:nvPr/>
        </p:nvCxnSpPr>
        <p:spPr>
          <a:xfrm>
            <a:off x="10268712" y="2002536"/>
            <a:ext cx="310896" cy="0"/>
          </a:xfrm>
          <a:prstGeom prst="line">
            <a:avLst/>
          </a:prstGeom>
          <a:ln w="28575">
            <a:solidFill>
              <a:srgbClr val="3741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roller"/>
          <p:cNvSpPr/>
          <p:nvPr/>
        </p:nvSpPr>
        <p:spPr>
          <a:xfrm>
            <a:off x="1572768" y="987552"/>
            <a:ext cx="2029968" cy="2386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72768" y="1042415"/>
            <a:ext cx="2029968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</a:rP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225296"/>
            <a:ext cx="2029968" cy="14630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525B68"/>
                </a:solidFill>
              </a:rPr>
              <a:t>replaces the planner LLM call</a:t>
            </a:r>
          </a:p>
        </p:txBody>
      </p:sp>
      <p:pic>
        <p:nvPicPr>
          <p:cNvPr id="16" name="Icon robot controll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058" y="1426464"/>
            <a:ext cx="369386" cy="566928"/>
          </a:xfrm>
          <a:prstGeom prst="rect">
            <a:avLst/>
          </a:prstGeom>
        </p:spPr>
      </p:pic>
      <p:sp>
        <p:nvSpPr>
          <p:cNvPr id="17" name="LAYA"/>
          <p:cNvSpPr/>
          <p:nvPr/>
        </p:nvSpPr>
        <p:spPr>
          <a:xfrm>
            <a:off x="1700784" y="2121408"/>
            <a:ext cx="1773936" cy="53035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22225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4E8C"/>
                </a:solidFill>
              </a:rPr>
              <a:t>LAYA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</a:rPr>
              <a:t>laya.Router · 4 typed (noul)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</a:rPr>
              <a:t>yes/no questions → probabilities</a:t>
            </a:r>
          </a:p>
        </p:txBody>
      </p:sp>
      <p:sp>
        <p:nvSpPr>
          <p:cNvPr id="18" name="Jev"/>
          <p:cNvSpPr/>
          <p:nvPr/>
        </p:nvSpPr>
        <p:spPr>
          <a:xfrm>
            <a:off x="1700784" y="2724912"/>
            <a:ext cx="1773936" cy="530352"/>
          </a:xfrm>
          <a:prstGeom prst="roundRect">
            <a:avLst>
              <a:gd name="adj" fmla="val 8000"/>
            </a:avLst>
          </a:prstGeom>
          <a:solidFill>
            <a:srgbClr val="FDEEDC"/>
          </a:solidFill>
          <a:ln w="2222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B35F10"/>
                </a:solidFill>
              </a:rPr>
              <a:t>Jev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</a:rPr>
              <a:t>System One · jev-1.13.0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</a:rPr>
              <a:t>structured scores, no text generation</a:t>
            </a:r>
          </a:p>
        </p:txBody>
      </p:sp>
      <p:sp>
        <p:nvSpPr>
          <p:cNvPr id="19" name="Signals"/>
          <p:cNvSpPr/>
          <p:nvPr/>
        </p:nvSpPr>
        <p:spPr>
          <a:xfrm>
            <a:off x="3913632" y="987552"/>
            <a:ext cx="1600200" cy="2386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2" y="1042415"/>
            <a:ext cx="1600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</a:rPr>
              <a:t>Signals q = (s, l, y, h)</a:t>
            </a:r>
          </a:p>
        </p:txBody>
      </p:sp>
      <p:sp>
        <p:nvSpPr>
          <p:cNvPr id="21" name="Signal s"/>
          <p:cNvSpPr/>
          <p:nvPr/>
        </p:nvSpPr>
        <p:spPr>
          <a:xfrm>
            <a:off x="4023360" y="1307592"/>
            <a:ext cx="1380744" cy="274320"/>
          </a:xfrm>
          <a:prstGeom prst="roundRect">
            <a:avLst>
              <a:gd name="adj" fmla="val 15000"/>
            </a:avLst>
          </a:prstGeom>
          <a:solidFill>
            <a:srgbClr val="E4F4F1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11827"/>
                </a:solidFill>
              </a:rPr>
              <a:t>s</a:t>
            </a:r>
            <a:r>
              <a:rPr sz="800" b="0">
                <a:solidFill>
                  <a:srgbClr val="111827"/>
                </a:solidFill>
              </a:rPr>
              <a:t> · semantic usefulness</a:t>
            </a:r>
          </a:p>
        </p:txBody>
      </p:sp>
      <p:sp>
        <p:nvSpPr>
          <p:cNvPr id="22" name="Signal l"/>
          <p:cNvSpPr/>
          <p:nvPr/>
        </p:nvSpPr>
        <p:spPr>
          <a:xfrm>
            <a:off x="4023360" y="1636776"/>
            <a:ext cx="1380744" cy="274320"/>
          </a:xfrm>
          <a:prstGeom prst="roundRect">
            <a:avLst>
              <a:gd name="adj" fmla="val 15000"/>
            </a:avLst>
          </a:prstGeom>
          <a:solidFill>
            <a:srgbClr val="E4F4F1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11827"/>
                </a:solidFill>
              </a:rPr>
              <a:t>l</a:t>
            </a:r>
            <a:r>
              <a:rPr sz="800" b="0">
                <a:solidFill>
                  <a:srgbClr val="111827"/>
                </a:solidFill>
              </a:rPr>
              <a:t> · lexical usefulness</a:t>
            </a:r>
          </a:p>
        </p:txBody>
      </p:sp>
      <p:sp>
        <p:nvSpPr>
          <p:cNvPr id="23" name="Signal y"/>
          <p:cNvSpPr/>
          <p:nvPr/>
        </p:nvSpPr>
        <p:spPr>
          <a:xfrm>
            <a:off x="4023360" y="1956816"/>
            <a:ext cx="1380744" cy="274320"/>
          </a:xfrm>
          <a:prstGeom prst="roundRect">
            <a:avLst>
              <a:gd name="adj" fmla="val 15000"/>
            </a:avLst>
          </a:prstGeom>
          <a:solidFill>
            <a:srgbClr val="E4F4F1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11827"/>
                </a:solidFill>
              </a:rPr>
              <a:t>y</a:t>
            </a:r>
            <a:r>
              <a:rPr sz="800" b="0">
                <a:solidFill>
                  <a:srgbClr val="111827"/>
                </a:solidFill>
              </a:rPr>
              <a:t> · symbolic usefulness</a:t>
            </a:r>
          </a:p>
        </p:txBody>
      </p:sp>
      <p:sp>
        <p:nvSpPr>
          <p:cNvPr id="24" name="Signal h"/>
          <p:cNvSpPr/>
          <p:nvPr/>
        </p:nvSpPr>
        <p:spPr>
          <a:xfrm>
            <a:off x="4023360" y="2286000"/>
            <a:ext cx="1380744" cy="274320"/>
          </a:xfrm>
          <a:prstGeom prst="roundRect">
            <a:avLst>
              <a:gd name="adj" fmla="val 15000"/>
            </a:avLst>
          </a:prstGeom>
          <a:solidFill>
            <a:srgbClr val="FDECEE"/>
          </a:solidFill>
          <a:ln w="19050">
            <a:solidFill>
              <a:srgbClr val="D64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111827"/>
                </a:solidFill>
              </a:rPr>
              <a:t>h</a:t>
            </a:r>
            <a:r>
              <a:rPr sz="800" b="0">
                <a:solidFill>
                  <a:srgbClr val="111827"/>
                </a:solidFill>
              </a:rPr>
              <a:t> · multi-hop need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2633472"/>
            <a:ext cx="1600200" cy="1371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525B68"/>
                </a:solidFill>
              </a:rPr>
              <a:t>complexity score</a:t>
            </a:r>
          </a:p>
        </p:txBody>
      </p:sp>
      <p:sp>
        <p:nvSpPr>
          <p:cNvPr id="26" name="Complexity formula"/>
          <p:cNvSpPr/>
          <p:nvPr/>
        </p:nvSpPr>
        <p:spPr>
          <a:xfrm>
            <a:off x="4023360" y="2788920"/>
            <a:ext cx="1380744" cy="475488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1587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700" b="0" i="1">
                <a:solidFill>
                  <a:srgbClr val="111827"/>
                </a:solidFill>
              </a:rPr>
              <a:t>C = clip(0.2s+0.2l+0.2y+0.4h)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clipped to [0, 1] · h weighted most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k_min = 3, k_max = 20</a:t>
            </a:r>
          </a:p>
        </p:txBody>
      </p:sp>
      <p:sp>
        <p:nvSpPr>
          <p:cNvPr id="27" name="Budget policy"/>
          <p:cNvSpPr/>
          <p:nvPr/>
        </p:nvSpPr>
        <p:spPr>
          <a:xfrm>
            <a:off x="5824728" y="987552"/>
            <a:ext cx="2441448" cy="2386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24728" y="1042415"/>
            <a:ext cx="2441448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</a:rPr>
              <a:t>Budget policy (pick one)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24728" y="1225296"/>
            <a:ext cx="2441448" cy="14630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525B68"/>
                </a:solidFill>
              </a:rPr>
              <a:t>signals → top-k per channel</a:t>
            </a:r>
          </a:p>
        </p:txBody>
      </p:sp>
      <p:sp>
        <p:nvSpPr>
          <p:cNvPr id="30" name="Policy 1"/>
          <p:cNvSpPr/>
          <p:nvPr/>
        </p:nvSpPr>
        <p:spPr>
          <a:xfrm>
            <a:off x="5934456" y="1426464"/>
            <a:ext cx="2221992" cy="594360"/>
          </a:xfrm>
          <a:prstGeom prst="roundRect">
            <a:avLst>
              <a:gd name="adj" fmla="val 8000"/>
            </a:avLst>
          </a:prstGeom>
          <a:solidFill>
            <a:srgbClr val="F4F1FE"/>
          </a:solidFill>
          <a:ln w="22225">
            <a:solidFill>
              <a:srgbClr val="7C5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3FA0"/>
                </a:solidFill>
              </a:rPr>
              <a:t>1 · Complexity</a:t>
            </a:r>
          </a:p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111827"/>
                </a:solidFill>
              </a:rPr>
              <a:t>k = 3 + round(17·C(q))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4B5563"/>
                </a:solidFill>
              </a:rPr>
              <a:t>one k for every channel · output capped at 20</a:t>
            </a:r>
          </a:p>
        </p:txBody>
      </p:sp>
      <p:sp>
        <p:nvSpPr>
          <p:cNvPr id="31" name="Policy 2"/>
          <p:cNvSpPr/>
          <p:nvPr/>
        </p:nvSpPr>
        <p:spPr>
          <a:xfrm>
            <a:off x="5934456" y="2075688"/>
            <a:ext cx="2221992" cy="594360"/>
          </a:xfrm>
          <a:prstGeom prst="roundRect">
            <a:avLst>
              <a:gd name="adj" fmla="val 8000"/>
            </a:avLst>
          </a:prstGeom>
          <a:solidFill>
            <a:srgbClr val="F4F1FE"/>
          </a:solidFill>
          <a:ln w="22225">
            <a:solidFill>
              <a:srgbClr val="7C5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3FA0"/>
                </a:solidFill>
              </a:rPr>
              <a:t>2 · Retrieval</a:t>
            </a:r>
          </a:p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111827"/>
                </a:solidFill>
              </a:rPr>
              <a:t>k_c = 3 + round(17·c), c = s, l or y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4B5563"/>
                </a:solidFill>
              </a:rPr>
              <a:t>each channel gets its own depth</a:t>
            </a:r>
          </a:p>
        </p:txBody>
      </p:sp>
      <p:sp>
        <p:nvSpPr>
          <p:cNvPr id="32" name="Policy 3"/>
          <p:cNvSpPr/>
          <p:nvPr/>
        </p:nvSpPr>
        <p:spPr>
          <a:xfrm>
            <a:off x="5934456" y="2724912"/>
            <a:ext cx="2221992" cy="594360"/>
          </a:xfrm>
          <a:prstGeom prst="roundRect">
            <a:avLst>
              <a:gd name="adj" fmla="val 8000"/>
            </a:avLst>
          </a:prstGeom>
          <a:solidFill>
            <a:srgbClr val="F4F1FE"/>
          </a:solidFill>
          <a:ln w="22225">
            <a:solidFill>
              <a:srgbClr val="7C5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3FA0"/>
                </a:solidFill>
              </a:rPr>
              <a:t>3 · Combined</a:t>
            </a:r>
          </a:p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111827"/>
                </a:solidFill>
              </a:rPr>
              <a:t>B = 3 + round(17·C(q))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4B5563"/>
                </a:solidFill>
              </a:rPr>
              <a:t>one total budget, split across channels</a:t>
            </a:r>
          </a:p>
        </p:txBody>
      </p:sp>
      <p:sp>
        <p:nvSpPr>
          <p:cNvPr id="33" name="Retrieval"/>
          <p:cNvSpPr/>
          <p:nvPr/>
        </p:nvSpPr>
        <p:spPr>
          <a:xfrm>
            <a:off x="8577072" y="987552"/>
            <a:ext cx="1691640" cy="2386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1042415"/>
            <a:ext cx="169164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</a:rPr>
              <a:t>Retrieval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1225296"/>
            <a:ext cx="1691640" cy="14630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525B68"/>
                </a:solidFill>
              </a:rPr>
              <a:t>LanceDB · 336 memories</a:t>
            </a:r>
          </a:p>
        </p:txBody>
      </p:sp>
      <p:sp>
        <p:nvSpPr>
          <p:cNvPr id="36" name="Icon database"/>
          <p:cNvSpPr/>
          <p:nvPr/>
        </p:nvSpPr>
        <p:spPr>
          <a:xfrm>
            <a:off x="10040112" y="1033271"/>
            <a:ext cx="164592" cy="182880"/>
          </a:xfrm>
          <a:prstGeom prst="can">
            <a:avLst/>
          </a:prstGeom>
          <a:solidFill>
            <a:srgbClr val="DCE9FB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n Semantic"/>
          <p:cNvSpPr/>
          <p:nvPr/>
        </p:nvSpPr>
        <p:spPr>
          <a:xfrm>
            <a:off x="8686800" y="1435608"/>
            <a:ext cx="877824" cy="292608"/>
          </a:xfrm>
          <a:prstGeom prst="roundRect">
            <a:avLst>
              <a:gd name="adj" fmla="val 15000"/>
            </a:avLst>
          </a:prstGeom>
          <a:solidFill>
            <a:srgbClr val="E4F4F1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11827"/>
                </a:solidFill>
              </a:rPr>
              <a:t>Semantic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dense similarity</a:t>
            </a:r>
          </a:p>
        </p:txBody>
      </p:sp>
      <p:sp>
        <p:nvSpPr>
          <p:cNvPr id="38" name="Chan Lexical"/>
          <p:cNvSpPr/>
          <p:nvPr/>
        </p:nvSpPr>
        <p:spPr>
          <a:xfrm>
            <a:off x="8686800" y="1783080"/>
            <a:ext cx="877824" cy="292608"/>
          </a:xfrm>
          <a:prstGeom prst="roundRect">
            <a:avLst>
              <a:gd name="adj" fmla="val 15000"/>
            </a:avLst>
          </a:prstGeom>
          <a:solidFill>
            <a:srgbClr val="E4F4F1"/>
          </a:solidFill>
          <a:ln w="190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11827"/>
                </a:solidFill>
              </a:rPr>
              <a:t>Lexical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stop-word keywords</a:t>
            </a:r>
          </a:p>
        </p:txBody>
      </p:sp>
      <p:sp>
        <p:nvSpPr>
          <p:cNvPr id="39" name="Chan Symbolic"/>
          <p:cNvSpPr/>
          <p:nvPr/>
        </p:nvSpPr>
        <p:spPr>
          <a:xfrm>
            <a:off x="8686800" y="2139696"/>
            <a:ext cx="877824" cy="292608"/>
          </a:xfrm>
          <a:prstGeom prst="roundRect">
            <a:avLst>
              <a:gd name="adj" fmla="val 15000"/>
            </a:avLst>
          </a:prstGeom>
          <a:solidFill>
            <a:srgbClr val="E4F4F1"/>
          </a:solidFill>
          <a:ln w="19050">
            <a:solidFill>
              <a:srgbClr val="2A9D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11827"/>
                </a:solidFill>
              </a:rPr>
              <a:t>Symbolic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only if filters match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523744"/>
            <a:ext cx="155448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filters: names/places in question,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YYYY or Month YYYY → time range</a:t>
            </a:r>
          </a:p>
        </p:txBody>
      </p:sp>
      <p:sp>
        <p:nvSpPr>
          <p:cNvPr id="41" name="Merge"/>
          <p:cNvSpPr/>
          <p:nvPr/>
        </p:nvSpPr>
        <p:spPr>
          <a:xfrm>
            <a:off x="8686800" y="2798064"/>
            <a:ext cx="1472184" cy="50292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 w="1587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111827"/>
                </a:solidFill>
              </a:rPr>
              <a:t>Merge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interleave by rank → dedupe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(entry_id) → keep ≤ 20 memories</a:t>
            </a:r>
          </a:p>
        </p:txBody>
      </p:sp>
      <p:sp>
        <p:nvSpPr>
          <p:cNvPr id="42" name="Answer"/>
          <p:cNvSpPr/>
          <p:nvPr/>
        </p:nvSpPr>
        <p:spPr>
          <a:xfrm>
            <a:off x="10579608" y="1527048"/>
            <a:ext cx="1289304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11827"/>
                </a:solidFill>
              </a:rPr>
              <a:t>Answer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</a:rPr>
              <a:t>GPT-4.1-mini</a:t>
            </a:r>
          </a:p>
          <a:p>
            <a:pPr algn="ctr">
              <a:spcAft>
                <a:spcPts val="600"/>
              </a:spcAft>
            </a:pPr>
            <a:r>
              <a:rPr sz="750" b="0">
                <a:solidFill>
                  <a:srgbClr val="4B5563"/>
                </a:solidFill>
              </a:rPr>
              <a:t>(unchanged generator)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</a:rPr>
              <a:t>scored by F1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</a:rPr>
              <a:t>+ tokens / query</a:t>
            </a:r>
          </a:p>
        </p:txBody>
      </p:sp>
      <p:sp>
        <p:nvSpPr>
          <p:cNvPr id="43" name="Fixed-k control"/>
          <p:cNvSpPr/>
          <p:nvPr/>
        </p:nvSpPr>
        <p:spPr>
          <a:xfrm>
            <a:off x="1572768" y="3456432"/>
            <a:ext cx="6976872" cy="384048"/>
          </a:xfrm>
          <a:prstGeom prst="roundRect">
            <a:avLst>
              <a:gd name="adj" fmla="val 12000"/>
            </a:avLst>
          </a:prstGeom>
          <a:solidFill>
            <a:srgbClr val="EDF5EE"/>
          </a:solidFill>
          <a:ln w="22225">
            <a:solidFill>
              <a:srgbClr val="5A9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2F7A45"/>
                </a:solidFill>
              </a:rPr>
              <a:t>Fixed-k control</a:t>
            </a:r>
          </a:p>
          <a:p>
            <a:pPr algn="l">
              <a:spcAft>
                <a:spcPts val="0"/>
              </a:spcAft>
            </a:pPr>
            <a:r>
              <a:rPr sz="750" b="0">
                <a:solidFill>
                  <a:srgbClr val="374151"/>
                </a:solidFill>
              </a:rPr>
              <a:t>no controller: constant k per channel, k = 3, 7, 11 or 15; same channels, rules and bounds</a:t>
            </a:r>
          </a:p>
        </p:txBody>
      </p:sp>
      <p:sp>
        <p:nvSpPr>
          <p:cNvPr id="44" name="Baseline reference"/>
          <p:cNvSpPr/>
          <p:nvPr/>
        </p:nvSpPr>
        <p:spPr>
          <a:xfrm>
            <a:off x="8741664" y="3456432"/>
            <a:ext cx="3108960" cy="38404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4B5563"/>
                </a:solidFill>
              </a:rPr>
              <a:t>Baseline (reference)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525B68"/>
                </a:solidFill>
              </a:rPr>
              <a:t>SimpleMem: planner LLM call per query + reflection → 8,444 tk/q</a:t>
            </a:r>
          </a:p>
        </p:txBody>
      </p:sp>
      <p:cxnSp>
        <p:nvCxnSpPr>
          <p:cNvPr id="45" name="Dashed fixed-k 1"/>
          <p:cNvCxnSpPr/>
          <p:nvPr/>
        </p:nvCxnSpPr>
        <p:spPr>
          <a:xfrm>
            <a:off x="786384" y="2322576"/>
            <a:ext cx="0" cy="1325880"/>
          </a:xfrm>
          <a:prstGeom prst="line">
            <a:avLst/>
          </a:prstGeom>
          <a:ln w="25400">
            <a:solidFill>
              <a:srgbClr val="5A9E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Dashed fixed-k 2"/>
          <p:cNvCxnSpPr/>
          <p:nvPr/>
        </p:nvCxnSpPr>
        <p:spPr>
          <a:xfrm>
            <a:off x="786384" y="3648456"/>
            <a:ext cx="786384" cy="0"/>
          </a:xfrm>
          <a:prstGeom prst="line">
            <a:avLst/>
          </a:prstGeom>
          <a:ln w="25400">
            <a:solidFill>
              <a:srgbClr val="5A9E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ashed fixed-k 3"/>
          <p:cNvCxnSpPr/>
          <p:nvPr/>
        </p:nvCxnSpPr>
        <p:spPr>
          <a:xfrm>
            <a:off x="8549640" y="3648456"/>
            <a:ext cx="109728" cy="0"/>
          </a:xfrm>
          <a:prstGeom prst="line">
            <a:avLst/>
          </a:prstGeom>
          <a:ln w="25400">
            <a:solidFill>
              <a:srgbClr val="5A9E6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Dashed fixed-k 4"/>
          <p:cNvCxnSpPr/>
          <p:nvPr/>
        </p:nvCxnSpPr>
        <p:spPr>
          <a:xfrm flipV="1">
            <a:off x="8659368" y="3374136"/>
            <a:ext cx="0" cy="274320"/>
          </a:xfrm>
          <a:prstGeom prst="line">
            <a:avLst/>
          </a:prstGeom>
          <a:ln w="25400">
            <a:solidFill>
              <a:srgbClr val="5A9E6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Label b"/>
          <p:cNvSpPr txBox="1"/>
          <p:nvPr/>
        </p:nvSpPr>
        <p:spPr>
          <a:xfrm>
            <a:off x="274320" y="4069080"/>
            <a:ext cx="1143000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</a:rPr>
              <a:t>(b) All ten variants</a:t>
            </a:r>
            <a:r>
              <a:rPr sz="800" b="0">
                <a:solidFill>
                  <a:srgbClr val="525B68"/>
                </a:solidFill>
              </a:rPr>
              <a:t>  macro-F1 (%) over C1–C4 · tokens/query · reduction vs. our baseline (41.25 F1, 8,444 tk/q)</a:t>
            </a:r>
          </a:p>
        </p:txBody>
      </p:sp>
      <p:sp>
        <p:nvSpPr>
          <p:cNvPr id="50" name="Variants panel"/>
          <p:cNvSpPr/>
          <p:nvPr/>
        </p:nvSpPr>
        <p:spPr>
          <a:xfrm>
            <a:off x="201168" y="4306824"/>
            <a:ext cx="11786616" cy="15544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66543" y="4407408"/>
            <a:ext cx="1463040" cy="1554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74151"/>
                </a:solidFill>
              </a:rPr>
              <a:t>Complexity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85032" y="4407408"/>
            <a:ext cx="1463040" cy="1554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74151"/>
                </a:solidFill>
              </a:rPr>
              <a:t>Retrieval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4407408"/>
            <a:ext cx="1463040" cy="1554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374151"/>
                </a:solidFill>
              </a:rPr>
              <a:t>Combined</a:t>
            </a:r>
          </a:p>
        </p:txBody>
      </p:sp>
      <p:sp>
        <p:nvSpPr>
          <p:cNvPr id="54" name="Row LAYA"/>
          <p:cNvSpPr/>
          <p:nvPr/>
        </p:nvSpPr>
        <p:spPr>
          <a:xfrm>
            <a:off x="338328" y="4617720"/>
            <a:ext cx="886968" cy="566928"/>
          </a:xfrm>
          <a:prstGeom prst="roundRect">
            <a:avLst>
              <a:gd name="adj" fmla="val 12000"/>
            </a:avLst>
          </a:prstGeom>
          <a:solidFill>
            <a:srgbClr val="E8F0FA"/>
          </a:solidFill>
          <a:ln w="22225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4E8C"/>
                </a:solidFill>
              </a:rPr>
              <a:t>LAYA</a:t>
            </a:r>
          </a:p>
        </p:txBody>
      </p:sp>
      <p:sp>
        <p:nvSpPr>
          <p:cNvPr id="55" name="Row Jev"/>
          <p:cNvSpPr/>
          <p:nvPr/>
        </p:nvSpPr>
        <p:spPr>
          <a:xfrm>
            <a:off x="338328" y="5266944"/>
            <a:ext cx="886968" cy="566928"/>
          </a:xfrm>
          <a:prstGeom prst="roundRect">
            <a:avLst>
              <a:gd name="adj" fmla="val 12000"/>
            </a:avLst>
          </a:prstGeom>
          <a:solidFill>
            <a:srgbClr val="FDEEDC"/>
          </a:solidFill>
          <a:ln w="2222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35F10"/>
                </a:solidFill>
              </a:rPr>
              <a:t>Jev</a:t>
            </a:r>
          </a:p>
        </p:txBody>
      </p:sp>
      <p:sp>
        <p:nvSpPr>
          <p:cNvPr id="56" name="LAYA complexity"/>
          <p:cNvSpPr/>
          <p:nvPr/>
        </p:nvSpPr>
        <p:spPr>
          <a:xfrm>
            <a:off x="2039112" y="4617720"/>
            <a:ext cx="151790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</a:rPr>
              <a:t>37.3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1,215.7 tk · −85.6%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C0392B"/>
                </a:solidFill>
              </a:rPr>
              <a:t>ΔF1 −3.95</a:t>
            </a:r>
          </a:p>
        </p:txBody>
      </p:sp>
      <p:sp>
        <p:nvSpPr>
          <p:cNvPr id="57" name="LAYA retrieval"/>
          <p:cNvSpPr/>
          <p:nvPr/>
        </p:nvSpPr>
        <p:spPr>
          <a:xfrm>
            <a:off x="3657600" y="4617720"/>
            <a:ext cx="151790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</a:rPr>
              <a:t>35.7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1,215.8 tk · −85.6%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C0392B"/>
                </a:solidFill>
              </a:rPr>
              <a:t>ΔF1 −5.55</a:t>
            </a:r>
          </a:p>
        </p:txBody>
      </p:sp>
      <p:sp>
        <p:nvSpPr>
          <p:cNvPr id="58" name="LAYA combined"/>
          <p:cNvSpPr/>
          <p:nvPr/>
        </p:nvSpPr>
        <p:spPr>
          <a:xfrm>
            <a:off x="5276088" y="4617720"/>
            <a:ext cx="151790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</a:rPr>
              <a:t>37.0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1,215.9 tk · −85.6%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C0392B"/>
                </a:solidFill>
              </a:rPr>
              <a:t>ΔF1 −4.25</a:t>
            </a:r>
          </a:p>
        </p:txBody>
      </p:sp>
      <p:sp>
        <p:nvSpPr>
          <p:cNvPr id="59" name="Jev complexity"/>
          <p:cNvSpPr/>
          <p:nvPr/>
        </p:nvSpPr>
        <p:spPr>
          <a:xfrm>
            <a:off x="2039112" y="5266944"/>
            <a:ext cx="1517904" cy="566928"/>
          </a:xfrm>
          <a:prstGeom prst="roundRect">
            <a:avLst>
              <a:gd name="adj" fmla="val 12000"/>
            </a:avLst>
          </a:prstGeom>
          <a:solidFill>
            <a:srgbClr val="FFF4E5"/>
          </a:solidFill>
          <a:ln w="3175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</a:rPr>
              <a:t>39.2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1,934.1 tk · −77.1%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C0392B"/>
                </a:solidFill>
              </a:rPr>
              <a:t>ΔF1 −2.05</a:t>
            </a:r>
          </a:p>
        </p:txBody>
      </p:sp>
      <p:sp>
        <p:nvSpPr>
          <p:cNvPr id="60" name="Jev retrieval"/>
          <p:cNvSpPr/>
          <p:nvPr/>
        </p:nvSpPr>
        <p:spPr>
          <a:xfrm>
            <a:off x="3657600" y="5266944"/>
            <a:ext cx="151790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</a:rPr>
              <a:t>39.0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1,957.6 tk · −76.8%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C0392B"/>
                </a:solidFill>
              </a:rPr>
              <a:t>ΔF1 −2.25</a:t>
            </a:r>
          </a:p>
        </p:txBody>
      </p:sp>
      <p:sp>
        <p:nvSpPr>
          <p:cNvPr id="61" name="Jev combined"/>
          <p:cNvSpPr/>
          <p:nvPr/>
        </p:nvSpPr>
        <p:spPr>
          <a:xfrm>
            <a:off x="5276088" y="5266944"/>
            <a:ext cx="151790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</a:rPr>
              <a:t>37.5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1,158.7 tk · −86.3%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C0392B"/>
                </a:solidFill>
              </a:rPr>
              <a:t>ΔF1 −3.75</a:t>
            </a:r>
          </a:p>
        </p:txBody>
      </p:sp>
      <p:sp>
        <p:nvSpPr>
          <p:cNvPr id="62" name="Pill best compromise"/>
          <p:cNvSpPr/>
          <p:nvPr/>
        </p:nvSpPr>
        <p:spPr>
          <a:xfrm>
            <a:off x="2404872" y="5175504"/>
            <a:ext cx="841248" cy="155448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 w="6350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</a:rPr>
              <a:t>best compromise</a:t>
            </a:r>
          </a:p>
        </p:txBody>
      </p:sp>
      <p:cxnSp>
        <p:nvCxnSpPr>
          <p:cNvPr id="63" name="Divider"/>
          <p:cNvCxnSpPr/>
          <p:nvPr/>
        </p:nvCxnSpPr>
        <p:spPr>
          <a:xfrm>
            <a:off x="7022592" y="4416552"/>
            <a:ext cx="0" cy="1371600"/>
          </a:xfrm>
          <a:prstGeom prst="line">
            <a:avLst/>
          </a:prstGeom>
          <a:ln w="12700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78040" y="4407408"/>
            <a:ext cx="4645152" cy="1554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F7A45"/>
                </a:solidFill>
              </a:rPr>
              <a:t>Fixed-k control (no controller)</a:t>
            </a:r>
          </a:p>
        </p:txBody>
      </p:sp>
      <p:sp>
        <p:nvSpPr>
          <p:cNvPr id="65" name="Fixed k = 3"/>
          <p:cNvSpPr/>
          <p:nvPr/>
        </p:nvSpPr>
        <p:spPr>
          <a:xfrm>
            <a:off x="7178040" y="4617720"/>
            <a:ext cx="110642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A9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700" b="1">
                <a:solidFill>
                  <a:srgbClr val="2F7A45"/>
                </a:solidFill>
              </a:rPr>
              <a:t>k = 3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111827"/>
                </a:solidFill>
              </a:rPr>
              <a:t>36.3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938.4 tk · −88.9%</a:t>
            </a:r>
          </a:p>
        </p:txBody>
      </p:sp>
      <p:sp>
        <p:nvSpPr>
          <p:cNvPr id="66" name="Fixed k = 7"/>
          <p:cNvSpPr/>
          <p:nvPr/>
        </p:nvSpPr>
        <p:spPr>
          <a:xfrm>
            <a:off x="8348472" y="4617720"/>
            <a:ext cx="110642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A9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700" b="1">
                <a:solidFill>
                  <a:srgbClr val="2F7A45"/>
                </a:solidFill>
              </a:rPr>
              <a:t>k = 7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111827"/>
                </a:solidFill>
              </a:rPr>
              <a:t>37.7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1,736.1 tk · −79.4%</a:t>
            </a:r>
          </a:p>
        </p:txBody>
      </p:sp>
      <p:sp>
        <p:nvSpPr>
          <p:cNvPr id="67" name="Fixed k = 11"/>
          <p:cNvSpPr/>
          <p:nvPr/>
        </p:nvSpPr>
        <p:spPr>
          <a:xfrm>
            <a:off x="9528048" y="4617720"/>
            <a:ext cx="1106424" cy="566928"/>
          </a:xfrm>
          <a:prstGeom prst="roundRect">
            <a:avLst>
              <a:gd name="adj" fmla="val 12000"/>
            </a:avLst>
          </a:prstGeom>
          <a:solidFill>
            <a:srgbClr val="EAF3EC"/>
          </a:solidFill>
          <a:ln w="31750">
            <a:solidFill>
              <a:srgbClr val="5A9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700" b="1">
                <a:solidFill>
                  <a:srgbClr val="2F7A45"/>
                </a:solidFill>
              </a:rPr>
              <a:t>k = 11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111827"/>
                </a:solidFill>
              </a:rPr>
              <a:t>39.8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1,931.5 tk · −77.1%</a:t>
            </a:r>
          </a:p>
        </p:txBody>
      </p:sp>
      <p:sp>
        <p:nvSpPr>
          <p:cNvPr id="68" name="Fixed k = 15"/>
          <p:cNvSpPr/>
          <p:nvPr/>
        </p:nvSpPr>
        <p:spPr>
          <a:xfrm>
            <a:off x="10716768" y="4617720"/>
            <a:ext cx="1106424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A9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700" b="1">
                <a:solidFill>
                  <a:srgbClr val="2F7A45"/>
                </a:solidFill>
              </a:rPr>
              <a:t>k = 15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111827"/>
                </a:solidFill>
              </a:rPr>
              <a:t>38.3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1,956.7 tk · −76.8%</a:t>
            </a:r>
          </a:p>
        </p:txBody>
      </p:sp>
      <p:sp>
        <p:nvSpPr>
          <p:cNvPr id="69" name="Baseline card"/>
          <p:cNvSpPr/>
          <p:nvPr/>
        </p:nvSpPr>
        <p:spPr>
          <a:xfrm>
            <a:off x="7178040" y="5266944"/>
            <a:ext cx="4645152" cy="566928"/>
          </a:xfrm>
          <a:prstGeom prst="roundRect">
            <a:avLst>
              <a:gd name="adj" fmla="val 12000"/>
            </a:avLst>
          </a:prstGeom>
          <a:solidFill>
            <a:srgbClr val="F2F3F5"/>
          </a:solidFill>
          <a:ln w="19050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Aft>
                <a:spcPts val="100"/>
              </a:spcAft>
            </a:pPr>
            <a:r>
              <a:rPr sz="700" b="1">
                <a:solidFill>
                  <a:srgbClr val="4B5563"/>
                </a:solidFill>
              </a:rPr>
              <a:t>SimpleMem baseline (planner LLM + reflection)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111827"/>
                </a:solidFill>
              </a:rPr>
              <a:t>41.25</a:t>
            </a:r>
          </a:p>
          <a:p>
            <a:pPr algn="ctr">
              <a:spcAft>
                <a:spcPts val="0"/>
              </a:spcAft>
            </a:pPr>
            <a:r>
              <a:rPr sz="650" b="0">
                <a:solidFill>
                  <a:srgbClr val="4B5563"/>
                </a:solidFill>
              </a:rPr>
              <a:t>8,444 tk/q · reference for all Δ values</a:t>
            </a:r>
          </a:p>
        </p:txBody>
      </p:sp>
      <p:sp>
        <p:nvSpPr>
          <p:cNvPr id="70" name="Label c"/>
          <p:cNvSpPr txBox="1"/>
          <p:nvPr/>
        </p:nvSpPr>
        <p:spPr>
          <a:xfrm>
            <a:off x="274320" y="6016752"/>
            <a:ext cx="457200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</a:rPr>
              <a:t>(c) Cost–accuracy trade-off</a:t>
            </a:r>
          </a:p>
        </p:txBody>
      </p:sp>
      <p:sp>
        <p:nvSpPr>
          <p:cNvPr id="71" name="Tradeoff panel"/>
          <p:cNvSpPr/>
          <p:nvPr/>
        </p:nvSpPr>
        <p:spPr>
          <a:xfrm>
            <a:off x="201168" y="6254496"/>
            <a:ext cx="7178040" cy="187452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abel reading"/>
          <p:cNvSpPr txBox="1"/>
          <p:nvPr/>
        </p:nvSpPr>
        <p:spPr>
          <a:xfrm>
            <a:off x="7525512" y="6016752"/>
            <a:ext cx="365760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827"/>
                </a:solidFill>
              </a:rPr>
              <a:t>Reading the figure</a:t>
            </a:r>
          </a:p>
        </p:txBody>
      </p:sp>
      <p:sp>
        <p:nvSpPr>
          <p:cNvPr id="73" name="Reading panel"/>
          <p:cNvSpPr/>
          <p:nvPr/>
        </p:nvSpPr>
        <p:spPr>
          <a:xfrm>
            <a:off x="7452360" y="6254496"/>
            <a:ext cx="4535424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Icon person reading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0957" y="6976872"/>
            <a:ext cx="374325" cy="384048"/>
          </a:xfrm>
          <a:prstGeom prst="rect">
            <a:avLst/>
          </a:prstGeom>
        </p:spPr>
      </p:pic>
      <p:sp>
        <p:nvSpPr>
          <p:cNvPr id="75" name="Reading text"/>
          <p:cNvSpPr txBox="1"/>
          <p:nvPr/>
        </p:nvSpPr>
        <p:spPr>
          <a:xfrm>
            <a:off x="8202168" y="6309360"/>
            <a:ext cx="3657600" cy="17373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11827"/>
                </a:solidFill>
              </a:rPr>
              <a:t>1 · Cost.</a:t>
            </a:r>
            <a:r>
              <a:rPr sz="850" b="0">
                <a:solidFill>
                  <a:srgbClr val="111827"/>
                </a:solidFill>
              </a:rPr>
              <a:t> Controllers cut tokens/query by 76.8–86.3%</a:t>
            </a:r>
          </a:p>
          <a:p>
            <a:pPr algn="l">
              <a:spcAft>
                <a:spcPts val="800"/>
              </a:spcAft>
            </a:pPr>
            <a:r>
              <a:rPr sz="850" b="0">
                <a:solidFill>
                  <a:srgbClr val="4B5563"/>
                </a:solidFill>
              </a:rPr>
              <a:t>vs. our baseline; fixed-k saves 76.8–88.9% too.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111827"/>
                </a:solidFill>
              </a:rPr>
              <a:t>2 · Accuracy.</a:t>
            </a:r>
            <a:r>
              <a:rPr sz="850" b="0">
                <a:solidFill>
                  <a:srgbClr val="111827"/>
                </a:solidFill>
              </a:rPr>
              <a:t> Jev stays within 2.05–3.75 F1 points, LAYA</a:t>
            </a:r>
          </a:p>
          <a:p>
            <a:pPr algn="l">
              <a:spcAft>
                <a:spcPts val="800"/>
              </a:spcAft>
            </a:pPr>
            <a:r>
              <a:rPr sz="850" b="0">
                <a:solidFill>
                  <a:srgbClr val="4B5563"/>
                </a:solidFill>
              </a:rPr>
              <a:t>within 3.95–5.55; baseline planner scores highest.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111827"/>
                </a:solidFill>
              </a:rPr>
              <a:t>3 · No adaptive-depth gain overall.</a:t>
            </a:r>
            <a:r>
              <a:rPr sz="850" b="0">
                <a:solidFill>
                  <a:srgbClr val="111827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850" b="0">
                <a:solidFill>
                  <a:srgbClr val="4B5563"/>
                </a:solidFill>
              </a:rPr>
              <a:t>Static k=11 (39.8) matches or beats every controller at the same cost as Jev + complexity.</a:t>
            </a:r>
          </a:p>
          <a:p>
            <a:pPr algn="l">
              <a:spcAft>
                <a:spcPts val="0"/>
              </a:spcAft>
            </a:pPr>
            <a:r>
              <a:rPr sz="850" b="1">
                <a:solidFill>
                  <a:srgbClr val="111827"/>
                </a:solidFill>
              </a:rPr>
              <a:t>4 · Where controllers help.</a:t>
            </a:r>
            <a:r>
              <a:rPr sz="850" b="0">
                <a:solidFill>
                  <a:srgbClr val="111827"/>
                </a:solidFill>
              </a:rPr>
              <a:t/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</a:rPr>
              <a:t>Multi-hop (C1): Jev retrieval/complexity reach 36.9 / 36.1, 3.9 / 3.1 above the best fixed-k run at the same cost.</a:t>
            </a:r>
          </a:p>
        </p:txBody>
      </p:sp>
      <p:sp>
        <p:nvSpPr>
          <p:cNvPr id="76" name="Fig caption"/>
          <p:cNvSpPr txBox="1"/>
          <p:nvPr/>
        </p:nvSpPr>
        <p:spPr>
          <a:xfrm>
            <a:off x="411480" y="8110727"/>
            <a:ext cx="11365992" cy="1645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525B68"/>
                </a:solidFill>
              </a:rPr>
              <a:t>One LoCoMo conversation (conv-26), 199 questions, one run per configuration; differences of 1–2 points are not established.</a:t>
            </a:r>
          </a:p>
        </p:txBody>
      </p:sp>
      <p:graphicFrame>
        <p:nvGraphicFramePr>
          <p:cNvPr id="77" name="Cost-accuracy scatter"/>
          <p:cNvGraphicFramePr>
            <a:graphicFrameLocks noGrp="1"/>
          </p:cNvGraphicFramePr>
          <p:nvPr/>
        </p:nvGraphicFramePr>
        <p:xfrm>
          <a:off x="274320" y="6345936"/>
          <a:ext cx="7040880" cy="17373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78" name="Baseline label"/>
          <p:cNvSpPr txBox="1"/>
          <p:nvPr/>
        </p:nvSpPr>
        <p:spPr>
          <a:xfrm>
            <a:off x="3840480" y="6464808"/>
            <a:ext cx="3264408" cy="1554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25B68"/>
                </a:solidFill>
              </a:rPr>
              <a:t>baseline: 41.25 F1 at 8,444 tk/q (off-axis)</a:t>
            </a:r>
          </a:p>
        </p:txBody>
      </p:sp>
      <p:sp>
        <p:nvSpPr>
          <p:cNvPr id="79" name="Cost-accuracy legend LAYA marker"/>
          <p:cNvSpPr/>
          <p:nvPr/>
        </p:nvSpPr>
        <p:spPr>
          <a:xfrm>
            <a:off x="4690872" y="7740396"/>
            <a:ext cx="68580" cy="68580"/>
          </a:xfrm>
          <a:prstGeom prst="ellipse">
            <a:avLst/>
          </a:prstGeom>
          <a:solidFill>
            <a:srgbClr val="3B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ost-accuracy legend LAYA label"/>
          <p:cNvSpPr txBox="1"/>
          <p:nvPr/>
        </p:nvSpPr>
        <p:spPr>
          <a:xfrm>
            <a:off x="4786884" y="7711135"/>
            <a:ext cx="34747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4B5563"/>
                </a:solidFill>
                <a:latin typeface="Arial"/>
              </a:rPr>
              <a:t>LAYA</a:t>
            </a:r>
          </a:p>
        </p:txBody>
      </p:sp>
      <p:sp>
        <p:nvSpPr>
          <p:cNvPr id="81" name="Cost-accuracy legend Jev marker"/>
          <p:cNvSpPr/>
          <p:nvPr/>
        </p:nvSpPr>
        <p:spPr>
          <a:xfrm>
            <a:off x="5175504" y="7740396"/>
            <a:ext cx="68580" cy="68580"/>
          </a:xfrm>
          <a:prstGeom prst="ellipse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ost-accuracy legend Jev label"/>
          <p:cNvSpPr txBox="1"/>
          <p:nvPr/>
        </p:nvSpPr>
        <p:spPr>
          <a:xfrm>
            <a:off x="5271516" y="7711135"/>
            <a:ext cx="228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4B5563"/>
                </a:solidFill>
                <a:latin typeface="Arial"/>
              </a:rPr>
              <a:t>Jev</a:t>
            </a:r>
          </a:p>
        </p:txBody>
      </p:sp>
      <p:sp>
        <p:nvSpPr>
          <p:cNvPr id="83" name="Cost-accuracy legend Fixed-k marker"/>
          <p:cNvSpPr/>
          <p:nvPr/>
        </p:nvSpPr>
        <p:spPr>
          <a:xfrm>
            <a:off x="5550408" y="7740396"/>
            <a:ext cx="68580" cy="68580"/>
          </a:xfrm>
          <a:prstGeom prst="ellipse">
            <a:avLst/>
          </a:prstGeom>
          <a:solidFill>
            <a:srgbClr val="55A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ost-accuracy legend Fixed-k label"/>
          <p:cNvSpPr txBox="1"/>
          <p:nvPr/>
        </p:nvSpPr>
        <p:spPr>
          <a:xfrm>
            <a:off x="5646420" y="7711135"/>
            <a:ext cx="43891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30">
                <a:solidFill>
                  <a:srgbClr val="4B5563"/>
                </a:solidFill>
                <a:latin typeface="Arial"/>
              </a:rPr>
              <a:t>Fixed-k</a:t>
            </a:r>
          </a:p>
        </p:txBody>
      </p:sp>
      <p:cxnSp>
        <p:nvCxnSpPr>
          <p:cNvPr id="85" name="LAYA complexity leader"/>
          <p:cNvCxnSpPr/>
          <p:nvPr/>
        </p:nvCxnSpPr>
        <p:spPr>
          <a:xfrm flipV="1">
            <a:off x="2798064" y="7383780"/>
            <a:ext cx="365760" cy="39319"/>
          </a:xfrm>
          <a:prstGeom prst="line">
            <a:avLst/>
          </a:prstGeom>
          <a:ln w="6096">
            <a:solidFill>
              <a:srgbClr val="B5C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LAYA complexity relocated data label"/>
          <p:cNvSpPr txBox="1"/>
          <p:nvPr/>
        </p:nvSpPr>
        <p:spPr>
          <a:xfrm>
            <a:off x="3182112" y="7319772"/>
            <a:ext cx="106070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1F4E8C"/>
                </a:solidFill>
                <a:latin typeface="Arial"/>
              </a:rPr>
              <a:t>LAYA complexity</a:t>
            </a:r>
          </a:p>
        </p:txBody>
      </p:sp>
      <p:cxnSp>
        <p:nvCxnSpPr>
          <p:cNvPr id="87" name="LAYA combined leader"/>
          <p:cNvCxnSpPr/>
          <p:nvPr/>
        </p:nvCxnSpPr>
        <p:spPr>
          <a:xfrm>
            <a:off x="2798064" y="7520940"/>
            <a:ext cx="365760" cy="13716"/>
          </a:xfrm>
          <a:prstGeom prst="line">
            <a:avLst/>
          </a:prstGeom>
          <a:ln w="6096">
            <a:solidFill>
              <a:srgbClr val="B5C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LAYA combined relocated data label"/>
          <p:cNvSpPr txBox="1"/>
          <p:nvPr/>
        </p:nvSpPr>
        <p:spPr>
          <a:xfrm>
            <a:off x="3182112" y="7470648"/>
            <a:ext cx="106070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1F4E8C"/>
                </a:solidFill>
                <a:latin typeface="Arial"/>
              </a:rPr>
              <a:t>LAYA combined</a:t>
            </a:r>
          </a:p>
        </p:txBody>
      </p:sp>
      <p:cxnSp>
        <p:nvCxnSpPr>
          <p:cNvPr id="89" name="LAYA retrieval leader"/>
          <p:cNvCxnSpPr/>
          <p:nvPr/>
        </p:nvCxnSpPr>
        <p:spPr>
          <a:xfrm flipV="1">
            <a:off x="2798064" y="7744968"/>
            <a:ext cx="365760" cy="11887"/>
          </a:xfrm>
          <a:prstGeom prst="line">
            <a:avLst/>
          </a:prstGeom>
          <a:ln w="6096">
            <a:solidFill>
              <a:srgbClr val="B5C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LAYA retrieval relocated data label"/>
          <p:cNvSpPr txBox="1"/>
          <p:nvPr/>
        </p:nvSpPr>
        <p:spPr>
          <a:xfrm>
            <a:off x="3182112" y="7680960"/>
            <a:ext cx="1060704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50">
                <a:solidFill>
                  <a:srgbClr val="1F4E8C"/>
                </a:solidFill>
                <a:latin typeface="Arial"/>
              </a:rPr>
              <a:t>LAYA retrieval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dget Controllers">
  <a:themeElements>
    <a:clrScheme name="Budget Controllers">
      <a:dk1>
        <a:srgbClr val="1F2937"/>
      </a:dk1>
      <a:lt1>
        <a:srgbClr val="FFFFFF"/>
      </a:lt1>
      <a:dk2>
        <a:srgbClr val="1F2A44"/>
      </a:dk2>
      <a:lt2>
        <a:srgbClr val="F3F5F9"/>
      </a:lt2>
      <a:accent1>
        <a:srgbClr val="2F6DB5"/>
      </a:accent1>
      <a:accent2>
        <a:srgbClr val="D9822B"/>
      </a:accent2>
      <a:accent3>
        <a:srgbClr val="3E8E5A"/>
      </a:accent3>
      <a:accent4>
        <a:srgbClr val="6B4FBB"/>
      </a:accent4>
      <a:accent5>
        <a:srgbClr val="2A9D8F"/>
      </a:accent5>
      <a:accent6>
        <a:srgbClr val="C0392B"/>
      </a:accent6>
      <a:hlink>
        <a:srgbClr val="2F6DB5"/>
      </a:hlink>
      <a:folHlink>
        <a:srgbClr val="6B4FBB"/>
      </a:folHlink>
    </a:clrScheme>
    <a:fontScheme name="Budget Controller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SimpleMem baseline and lightweight budget controllers</dc:title>
  <dc:subject>PptxGenJS Presentation</dc:subject>
  <dc:creator>Joelle Barhoun, Ali Kheireddine, Ali Al Mokdad</dc:creator>
  <cp:lastModifiedBy>Joelle Barhoun, Ali Kheireddine, Ali Al Mokdad</cp:lastModifiedBy>
  <cp:revision>1</cp:revision>
  <dcterms:created xsi:type="dcterms:W3CDTF">2026-10-21T07:31:35Z</dcterms:created>
  <dcterms:modified xsi:type="dcterms:W3CDTF">2026-10-21T07:31:35Z</dcterms:modified>
</cp:coreProperties>
</file>